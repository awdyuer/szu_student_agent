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FFFFF', flexDirection: 'row' }}&gt;&#10;  &lt;Box style={{ width: 470, height: '100%', background: 'linear-gradient(135deg, #1B4F9C 0%, #0F2E5C 100%)', padding: '64px 48px', justifyContent: 'space-between' }}&gt;&#10;    &lt;Box style={{ gap: 10 }}&gt;&#10;      &lt;Box style={{ width: 44, height: 5, background: '#F59E0B' }} /&gt;&#10;      &lt;Text style={{ fontSize: 15, color: '#BFD4F2', letterSpacing: 3, marginTop: 6 }}&gt;课堂智能体 · 项目介绍&lt;/Text&gt;&#10;    &lt;/Box&gt;&#10;    &lt;Box style={{ gap: 18 }}&gt;&#10;      &lt;Text style={{ fontSize: 62, fontWeight: 'bold', color: '#FFFFFF', lineHeight: 1.15 }}&gt;主动引导&lt;br /&gt;智能体&lt;/Text&gt;&#10;      &lt;Text style={{ fontSize: 19, color: '#D6E4F8', lineHeight: 1.6 }}&gt;课程计划驱动、AI 自动推进的课堂&lt;br /&gt;提示词管「怎么教」，数据管「教什么、教多久」&lt;/Text&gt;&#10;    &lt;/Box&gt;&#10;    &lt;Box style={{ gap: 6 }}&gt;&#10;      &lt;Text style={{ fontSize: 14, color: '#9FB9E0' }}&gt;重构自 Dify-Classroom-Interactive-Agent&lt;/Text&gt;&#10;      &lt;Text style={{ fontSize: 14, color: '#9FB9E0' }}&gt;LangGraph 编排 · 2026.09&lt;/Text&gt;&#10;    &lt;/Box&gt;&#10;  &lt;/Box&gt;&#10;  &lt;Box style={{ flex: 1, height: '100%', justifyContent: 'center', alignItems: 'center', background: '#FFFFFF' }}&gt;&#10;    &lt;svg width={640} height={460} viewBox=&quot;0 0 640 460&quot;&gt;&#10;      &lt;rect x={30} y={30} width={580} height={400} rx={16} fill=&quot;#E8F0FB&quot; opacity={0.55} /&gt;&#10;      &lt;circle cx={150} cy={120} r={34} fill=&quot;#1B4F9C&quot; /&gt;&#10;      &lt;text x={150} y={126} fontSize={15} fill=&quot;#FFFFFF&quot; textAnchor=&quot;middle&quot; fontWeight=&quot;bold&quot;&gt;计划&lt;/text&gt;&#10;      &lt;circle cx={330} cy={80} r={34} fill=&quot;#3D7BE0&quot; /&gt;&#10;      &lt;text x={330} y={86} fontSize={15} fill=&quot;#FFFFFF&quot; textAnchor=&quot;middle&quot; fontWeight=&quot;bold&quot;&gt;时钟&lt;/text&gt;&#10;      &lt;circle cx={500} cy={140} r={34} fill=&quot;#3D7BE0&quot; /&gt;&#10;      &lt;text x={500} y={146} fontSize={15} fill=&quot;#FFFFFF&quot; textAnchor=&quot;middle&quot; fontWeight=&quot;bold&quot;&gt;教学&lt;/text&gt;&#10;      &lt;circle cx={490} cy={310} r={34} fill=&quot;#1B4F9C&quot; /&gt;&#10;      &lt;text x={490} y={316} fontSize={15} fill=&quot;#FFFFFF&quot; textAnchor=&quot;middle&quot; fontWeight=&quot;bold&quot;&gt;判星&lt;/text&gt;&#10;      &lt;circle cx={310} cy={370} r={38} fill=&quot;#F59E0B&quot; /&gt;&#10;      &lt;text x={310} y={376} fontSize={15} fill=&quot;#FFFFFF&quot; textAnchor=&quot;middle&quot; fontWeight=&quot;bold&quot;&gt;切幕&lt;/text&gt;&#10;      &lt;circle cx={140} cy={300} r={34} fill=&quot;#1B4F9C&quot; /&gt;&#10;      &lt;text x={140} y={306} fontSize={15} fill=&quot;#FFFFFF&quot; textAnchor=&quot;middle&quot; fontWeight=&quot;bold&quot;&gt;落盘&lt;/text&gt;&#10;      &lt;path d=&quot;M184 116 L296 84&quot; stroke=&quot;#1B4F9C&quot; strokeWidth={2.5} fill=&quot;none&quot; markerEnd=&quot;url(#arr)&quot; /&gt;&#10;      &lt;path d=&quot;M364 92 L470 128&quot; stroke=&quot;#3D7BE0&quot; strokeWidth={2.5} fill=&quot;none&quot; markerEnd=&quot;url(#arr)&quot; /&gt;&#10;      &lt;path d=&quot;M498 174 L492 276&quot; stroke=&quot;#3D7BE0&quot; strokeWidth={2.5} fill=&quot;none&quot; markerEnd=&quot;url(#arr)&quot; /&gt;&#10;      &lt;path d=&quot;M456 326 L348 358&quot; stroke=&quot;#1B4F9C&quot; strokeWidth={2.5} fill=&quot;none&quot; markerEnd=&quot;url(#arr)&quot; /&gt;&#10;      &lt;path d=&quot;M272 362 L176 316&quot; stroke=&quot;#F59E0B&quot; strokeWidth={3} fill=&quot;none&quot; markerEnd=&quot;url(#arrA)&quot; /&gt;&#10;      &lt;path d=&quot;M144 266 L148 154&quot; stroke=&quot;#1B4F9C&quot; strokeWidth={2.5} fill=&quot;none&quot; markerEnd=&quot;url(#arr)&quot; /&gt;&#10;      &lt;defs&gt;&#10;        &lt;marker id=&quot;arr&quot; markerWidth=&quot;10&quot; markerHeight=&quot;10&quot; refX=&quot;8&quot; refY=&quot;3&quot; orient=&quot;auto&quot; markerUnits=&quot;strokeWidth&quot;&gt;&#10;          &lt;path d=&quot;M0,0 L0,6 L9,3 z&quot; fill=&quot;#1B4F9C&quot; /&gt;&#10;        &lt;/marker&gt;&#10;        &lt;marker id=&quot;arrA&quot; markerWidth=&quot;10&quot; markerHeight=&quot;10&quot; refX=&quot;8&quot; refY=&quot;3&quot; orient=&quot;auto&quot; markerUnits=&quot;strokeWidth&quot;&gt;&#10;          &lt;path d=&quot;M0,0 L0,6 L9,3 z&quot; fill=&quot;#F59E0B&quot; /&gt;&#10;        &lt;/marker&gt;&#10;      &lt;/defs&gt;&#10;      &lt;text x={320} y={446} fontSize={14} fill=&quot;#64748B&quot; textAnchor=&quot;middle&quot;&gt;学生每说一句话，状态机就走一圈&lt;/text&gt;&#10;    &lt;/svg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0" y="0"/>
            <a:ext cx="4476750" cy="6858000"/>
          </a:xfrm>
          <a:prstGeom prst="rect">
            <a:avLst/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" name="矩形 3"/>
          <p:cNvSpPr/>
          <p:nvPr/>
        </p:nvSpPr>
        <p:spPr>
          <a:xfrm>
            <a:off x="457200" y="609600"/>
            <a:ext cx="419100" cy="47625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457200" y="809625"/>
            <a:ext cx="3562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课堂智能体</a:t>
            </a:r>
            <a:r>
              <a:rPr lang="en-US" sz="1125" spc="2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spc="2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1125" spc="22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457200" y="2000250"/>
            <a:ext cx="3562350" cy="1638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主动引导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457200" y="3810000"/>
            <a:ext cx="3562350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课程计划驱动、</a:t>
            </a:r>
            <a:r>
              <a:rPr lang="en-US" sz="1425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425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自动推进的课堂</a:t>
            </a:r>
            <a:endParaRPr lang="zh-CN" sz="1425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提示词管「怎么教」，数据管「教什么、教多久」</a:t>
            </a:r>
            <a:endParaRPr lang="zh-CN" sz="1425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457200" y="5867400"/>
            <a:ext cx="3562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重构自</a:t>
            </a:r>
            <a:r>
              <a:rPr lang="en-US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 Dify-Classroom-Interactive-Agent</a:t>
            </a:r>
            <a:endParaRPr lang="en-US" sz="1050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457200" y="6086475"/>
            <a:ext cx="3562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LangGraph </a:t>
            </a:r>
            <a:r>
              <a:rPr lang="zh-CN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编排</a:t>
            </a:r>
            <a:r>
              <a:rPr lang="en-US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 · 2026.09</a:t>
            </a:r>
            <a:endParaRPr lang="en-US" sz="1050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76750" y="0"/>
            <a:ext cx="771525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86375" y="1238250"/>
            <a:ext cx="60960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 descr="&lt;Slide style={{ width: '1280px', height: '720px', padding: 0, background: '#FFFFFF', flexDirection: 'row' }}&gt;&#10;  &lt;Box style={{ width: 400, height: '100%', background: '#0F2E5C', padding: '72px 48px', justifyContent: 'space-between' }}&gt;&#10;    &lt;Box style={{ gap: 14 }}&gt;&#10;      &lt;Box style={{ width: 44, height: 5, background: '#F59E0B' }} /&gt;&#10;      &lt;Text style={{ fontSize: 40, fontWeight: 'bold', color: '#FFFFFF', lineHeight: 1.25, marginTop: 8 }}&gt;四个视角&lt;br /&gt;看懂这套系统&lt;/Text&gt;&#10;    &lt;/Box&gt;&#10;    &lt;Text style={{ fontSize: 15, color: '#9FB9E0', lineHeight: 1.7 }}&gt;从坐在教室里的学生，&lt;br /&gt;到课前配置的老师，&lt;br /&gt;再到跑在代码里的编排器。&lt;/Text&gt;&#10;  &lt;/Box&gt;&#10;  &lt;Box style={{ flex: 1, height: '100%', padding: '72px 64px', flexDirection: 'column', gap: 22, justifyContent: 'center' }}&gt;&#10;    {[&#10;      { no: '01', t: '学生端 · 一节课的完整旅程', d: '六幕时间轴、逐幕体验、星级如何从 0 长到 4', pg: 'P03–P05' },&#10;      { no: '02', t: '老师端 · 课前配置', d: 'lesson-plan.json 定阶段时长，内容文件写在哪、谁在读', pg: 'P06–P09' },&#10;      { no: '03', t: '编排器 · 代码实现', d: 'LangGraph 11 节点、teach 两层铁律、真实时钟与切幕判定', pg: 'P10–P14' },&#10;      { no: '04', t: '功能板块 · 文件地图', d: '五大目录分工、每个文件的用途与被调用时机', pg: 'P15–P17' },&#10;    ].map((c, i) =&gt; (&#10;      &lt;Box key={i} style={{ flexDirection: 'row', alignItems: 'center', gap: 22, background: i % 2 === 0 ? '#E8F0FB' : '#FFFFFF', border: '1px solid #D7E4F6', borderRadius: 10, padding: '18px 24px' }}&gt;&#10;        &lt;Text style={{ fontSize: 34, fontWeight: 'bold', color: '#1B4F9C', width: 64 }}&gt;{c.no}&lt;/Text&gt;&#10;        &lt;Box style={{ flex: 1, gap: 4 }}&gt;&#10;          &lt;Text style={{ fontSize: 20, fontWeight: 'bold', color: '#0F2E5C' }}&gt;{c.t}&lt;/Text&gt;&#10;          &lt;Text style={{ fontSize: 14, color: '#64748B' }}&gt;{c.d}&lt;/Text&gt;&#10;        &lt;/Box&gt;&#10;        &lt;Text style={{ fontSize: 14, color: '#F59E0B', fontWeight: 'bold' }}&gt;{c.pg}&lt;/Text&gt;&#10;      &lt;/Box&gt;&#10;    ))}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23" name="矩形 122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0F2E5C"/>
          </a:solidFill>
        </p:spPr>
        <p:txBody>
          <a:bodyPr/>
          <a:p/>
        </p:txBody>
      </p:sp>
      <p:sp>
        <p:nvSpPr>
          <p:cNvPr id="124" name="矩形 123"/>
          <p:cNvSpPr/>
          <p:nvPr/>
        </p:nvSpPr>
        <p:spPr>
          <a:xfrm>
            <a:off x="457200" y="685800"/>
            <a:ext cx="419100" cy="47625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457200" y="942975"/>
            <a:ext cx="2895600" cy="1143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四个视角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看懂这套系统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457200" y="5295900"/>
            <a:ext cx="289560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从坐在教室里的学生，</a:t>
            </a:r>
            <a:endParaRPr lang="zh-CN" sz="1125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到课前配置的老师，</a:t>
            </a:r>
            <a:endParaRPr lang="zh-CN" sz="1125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再到跑在代码里的编排器。</a:t>
            </a:r>
            <a:endParaRPr lang="zh-CN" sz="1125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圆角矩形 126"/>
          <p:cNvSpPr/>
          <p:nvPr/>
        </p:nvSpPr>
        <p:spPr>
          <a:xfrm>
            <a:off x="4419600" y="1571625"/>
            <a:ext cx="7162800" cy="771525"/>
          </a:xfrm>
          <a:prstGeom prst="roundRect">
            <a:avLst>
              <a:gd name="adj" fmla="val 12346"/>
            </a:avLst>
          </a:prstGeom>
          <a:solidFill>
            <a:srgbClr val="E8F0FB"/>
          </a:solidFill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4648200" y="1762125"/>
            <a:ext cx="609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5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5467350" y="1743075"/>
            <a:ext cx="5095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学生端</a:t>
            </a:r>
            <a:r>
              <a:rPr lang="en-US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一节课的完整旅程</a:t>
            </a:r>
            <a:endParaRPr lang="zh-CN" sz="150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5467350" y="2009775"/>
            <a:ext cx="5095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六幕时间轴、逐幕体验、星级如何从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长到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0772775" y="1876425"/>
            <a:ext cx="581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P03–P05</a:t>
            </a:r>
            <a:endParaRPr lang="en-US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圆角矩形 131"/>
          <p:cNvSpPr/>
          <p:nvPr/>
        </p:nvSpPr>
        <p:spPr>
          <a:xfrm>
            <a:off x="4419600" y="2552700"/>
            <a:ext cx="71628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4648200" y="2743200"/>
            <a:ext cx="609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5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5467350" y="2724150"/>
            <a:ext cx="5095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老师端</a:t>
            </a:r>
            <a:r>
              <a:rPr lang="en-US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课前配置</a:t>
            </a:r>
            <a:endParaRPr lang="zh-CN" sz="150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5467350" y="2990850"/>
            <a:ext cx="5095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lesson-plan.json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定阶段时长，内容文件写在哪、谁在读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10772775" y="2857500"/>
            <a:ext cx="581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P06–P09</a:t>
            </a:r>
            <a:endParaRPr lang="en-US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4419600" y="3533775"/>
            <a:ext cx="7162800" cy="771525"/>
          </a:xfrm>
          <a:prstGeom prst="roundRect">
            <a:avLst>
              <a:gd name="adj" fmla="val 12346"/>
            </a:avLst>
          </a:prstGeom>
          <a:solidFill>
            <a:srgbClr val="E8F0FB"/>
          </a:solidFill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4648200" y="3724275"/>
            <a:ext cx="609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5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5467350" y="3705225"/>
            <a:ext cx="5095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编排器</a:t>
            </a:r>
            <a:r>
              <a:rPr lang="en-US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代码实现</a:t>
            </a:r>
            <a:endParaRPr lang="zh-CN" sz="150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5467350" y="3971925"/>
            <a:ext cx="5095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LangGraph 11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节点、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teach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两层铁律、真实时钟与切幕判定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10772775" y="3838575"/>
            <a:ext cx="581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P10–P14</a:t>
            </a:r>
            <a:endParaRPr lang="en-US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圆角矩形 141"/>
          <p:cNvSpPr/>
          <p:nvPr/>
        </p:nvSpPr>
        <p:spPr>
          <a:xfrm>
            <a:off x="4419600" y="4514850"/>
            <a:ext cx="71628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4648200" y="4705350"/>
            <a:ext cx="609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25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5467350" y="4686300"/>
            <a:ext cx="5095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功能板块</a:t>
            </a:r>
            <a:r>
              <a:rPr lang="en-US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文件地图</a:t>
            </a:r>
            <a:endParaRPr lang="zh-CN" sz="150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5467350" y="4953000"/>
            <a:ext cx="5095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五大目录分工、每个文件的用途与被调用时机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10772775" y="4819650"/>
            <a:ext cx="581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P15–P17</a:t>
            </a:r>
            <a:endParaRPr lang="en-US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 descr="&lt;Slide style={{ width: '1280px', height: '720px', padding: 0, background: 'linear-gradient(135deg, #1B4F9C 0%, #0F2E5C 100%)' }}&gt;&#10;  &lt;Box style={{ padding: '110px 96px', gap: 8 }}&gt;&#10;    &lt;Text style={{ fontSize: 150, fontWeight: 'bold', color: 'rgba(255,255,255,0.18)', lineHeight: 1 }}&gt;01&lt;/Text&gt;&#10;    &lt;Text style={{ fontSize: 46, fontWeight: 'bold', color: '#FFFFFF', marginTop: 4 }}&gt;学生端 · 一节课的完整旅程&lt;/Text&gt;&#10;    &lt;Text style={{ fontSize: 19, color: '#BFD4F2', lineHeight: 1.7, marginTop: 18, maxWidth: 780 }}&gt;学生面对的不是「你问我答」的聊天机器人，而是一堂有剧本的课：AI 按老师排好的课程计划自动推进，把一门课在规定时间内上完。&lt;/Text&gt;&#10;    &lt;Box style={{ width: 64, height: 6, background: '#F59E0B', marginTop: 28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矩形 1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914400" y="1047750"/>
            <a:ext cx="10363200" cy="1714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1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1250" b="1">
              <a:solidFill>
                <a:srgbClr val="FFFFFF">
                  <a:alpha val="1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914400" y="2876550"/>
            <a:ext cx="103632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学生端</a:t>
            </a:r>
            <a:r>
              <a:rPr lang="en-US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一节课的完整旅程</a:t>
            </a:r>
            <a:endParaRPr lang="zh-CN" sz="3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914400" y="3657600"/>
            <a:ext cx="10363200" cy="7429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学生面对的不是「你问我答」的聊天机器人，而是一堂有剧本的课：</a:t>
            </a:r>
            <a:r>
              <a:rPr lang="en-US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按老师排好的课程计划自动推进，把一门课在规定时间内上完。</a:t>
            </a:r>
            <a:endParaRPr lang="zh-CN" sz="142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914400" y="4743450"/>
            <a:ext cx="609600" cy="5715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一节课的六幕：时间表就是剧本&lt;/Text&gt;&#10;      &lt;Text style={{ fontSize: 15, color: '#64748B', marginTop: 6 }}&gt;以 45 分钟示例课《第3章 示例课时》为例 —— 时长占比来自 lesson-plan.json 真实配置&lt;/Text&gt;&#10;    &lt;/Box&gt;&#10;  &lt;/Box&gt;&#10;  &lt;Box style={{ position: 'absolute', top: 128, left: 64, right: 64 }}&gt;&#10;    &lt;svg width={1152} height={500} viewBox=&quot;0 0 1152 500&quot;&gt;&#10;      &lt;text x={80} y={40} fontSize={14} fill=&quot;#64748B&quot;&gt;0%&lt;/text&gt;&#10;      &lt;text x={320} y={40} fontSize={14} fill=&quot;#64748B&quot;&gt;50%&lt;/text&gt;&#10;      &lt;text x={535} y={40} fontSize={14} fill=&quot;#64748B&quot;&gt;70%&lt;/text&gt;&#10;      &lt;text x={700} y={40} fontSize={14} fill=&quot;#64748B&quot;&gt;85%&lt;/text&gt;&#10;      &lt;text x={880} y={40} fontSize={14} fill=&quot;#64748B&quot;&gt;100%&lt;/text&gt;&#10;      &lt;rect x={40} y={60} width={44} height={92} rx={8} fill=&quot;#64748B&quot; /&gt;&#10;      &lt;text x={62} y={108} fontSize={13} fill=&quot;#FFFFFF&quot; textAnchor=&quot;middle&quot; fontWeight=&quot;bold&quot;&gt;开场&lt;/text&gt;&#10;      &lt;rect x={88} y={60} width={488} height={92} rx={8} fill=&quot;#1B4F9C&quot; /&gt;&#10;      &lt;text x={332} y={100} fontSize={18} fill=&quot;#FFFFFF&quot; textAnchor=&quot;middle&quot; fontWeight=&quot;bold&quot;&gt;引导学习 · 讲解 + 主动提问&lt;/text&gt;&#10;      &lt;text x={332} y={128} fontSize={15} fill=&quot;#BFD4F2&quot; textAnchor=&quot;middle&quot;&gt;22 分钟&lt;/text&gt;&#10;      &lt;rect x={580} y={60} width={200} height={92} rx={8} fill=&quot;#3D7BE0&quot; /&gt;&#10;      &lt;text x={680} y={100} fontSize={17} fill=&quot;#FFFFFF&quot; textAnchor=&quot;middle&quot; fontWeight=&quot;bold&quot;&gt;复述与讨论&lt;/text&gt;&#10;      &lt;text x={680} y={128} fontSize={15} fill=&quot;#D6E4F8&quot; textAnchor=&quot;middle&quot;&gt;9 分钟&lt;/text&gt;&#10;      &lt;rect x={784} y={60} width={155} height={92} rx={8} fill=&quot;#1B4F9C&quot; /&gt;&#10;      &lt;text x={861} y={100} fontSize={17} fill=&quot;#FFFFFF&quot; textAnchor=&quot;middle&quot; fontWeight=&quot;bold&quot;&gt;深层探究&lt;/text&gt;&#10;      &lt;text x={861} y={128} fontSize={15} fill=&quot;#BFD4F2&quot; textAnchor=&quot;middle&quot;&gt;7 分钟&lt;/text&gt;&#10;      &lt;rect x={943} y={60} width={155} height={92} rx={8} fill=&quot;#E8F0FB&quot; stroke=&quot;#1B4F9C&quot; strokeWidth={2} strokeDasharray=&quot;8 6&quot; /&gt;&#10;      &lt;text x={1020} y={100} fontSize={16} fill=&quot;#1B4F9C&quot; textAnchor=&quot;middle&quot; fontWeight=&quot;bold&quot;&gt;全班讨论&lt;/text&gt;&#10;      &lt;text x={1020} y={128} fontSize={13} fill=&quot;#64748B&quot; textAnchor=&quot;middle&quot;&gt;7′ 本课已停用&lt;/text&gt;&#10;      &lt;rect x={1102} y={60} width={44} height={92} rx={8} fill=&quot;#64748B&quot; /&gt;&#10;      &lt;text x={1124} y={108} fontSize={13} fill=&quot;#FFFFFF&quot; textAnchor=&quot;middle&quot; fontWeight=&quot;bold&quot;&gt;收尾&lt;/text&gt;&#10;      &lt;path d=&quot;M332 156 L332 180&quot; stroke=&quot;#F59E0B&quot; strokeWidth={2.5} /&gt;&#10;      &lt;text x={332} y={204} fontSize={15} fill=&quot;#F59E0B&quot; textAnchor=&quot;middle&quot; fontWeight=&quot;bold&quot;&gt;1 星「已接触」&lt;/text&gt;&#10;      &lt;path d=&quot;M680 156 L680 180&quot; stroke=&quot;#F59E0B&quot; strokeWidth={2.5} /&gt;&#10;      &lt;text x={680} y={204} fontSize={15} fill=&quot;#F59E0B&quot; textAnchor=&quot;middle&quot; fontWeight=&quot;bold&quot;&gt;2–3 星&lt;/text&gt;&#10;      &lt;path d=&quot;M861 156 L861 180&quot; stroke=&quot;#F59E0B&quot; strokeWidth={2.5} /&gt;&#10;      &lt;text x={861} y={204} fontSize={15} fill=&quot;#F59E0B&quot; textAnchor=&quot;middle&quot; fontWeight=&quot;bold&quot;&gt;4 星&lt;/text&gt;&#10;      &lt;text x={1020} y={204} fontSize={13} fill=&quot;#64748B&quot; textAnchor=&quot;middle&quot;&gt;只记快照&lt;/text&gt;&#10;      &lt;rect x={40} y={240} width={1106} height={2} fill=&quot;#D7E4F6&quot; /&gt;&#10;      &lt;rect x={40} y={270} width={1106} height={86} rx={12} fill=&quot;#E8F0FB&quot; /&gt;&#10;      &lt;text x={64} y={306} fontSize={17} fill=&quot;#0F2E5C&quot;&gt;幕可自由启停：lesson-plan.json 里 &lt;tspan fontWeight=&quot;bold&quot;&gt;enabled: false&lt;/tspan&gt; 即整段跳过（本课关掉了全班讨论）&lt;/text&gt;&#10;      &lt;text x={64} y={336} fontSize={14} fill=&quot;#64748B&quot;&gt;intro / ending 是系统幕，不占老师的时间预算；中间各幕分钟数之和 ≤ 总时长，开课前由 8 项校验把关&lt;/text&gt;&#10;      &lt;rect x={40} y={386} width={1106} height={86} rx={12} fill=&quot;#FFFFFF&quot; stroke=&quot;#D7E4F6&quot; /&gt;&#10;      &lt;text x={64} y={422} fontSize={17} fill=&quot;#0F2E5C&quot;&gt;时间表不是估算：&lt;tspan fontWeight=&quot;bold&quot; fill=&quot;#1B4F9C&quot;&gt;编排器对真实墙上时钟负责&lt;/tspan&gt;，不数「聊了几轮」&lt;/text&gt;&#10;      &lt;text x={64} y={452} fontSize={14} fill=&quot;#64748B&quot;&gt;到点（minutes 预算耗尽）按 advance_policy 切幕：立即切 / 收尾后切 / 允许延长 ≤3 分钟&lt;/text&gt;&#10;    &lt;/svg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0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 1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55" name="圆角矩形 154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838200" y="342900"/>
            <a:ext cx="58197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一节课的六幕：时间表就是剧本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838200" y="790575"/>
            <a:ext cx="5819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45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分钟示例课《第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示例课时》为例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时长占比来自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lesson-plan.json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真实配置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8" name="图片 15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219200"/>
            <a:ext cx="10972800" cy="4762500"/>
          </a:xfrm>
          <a:prstGeom prst="rect">
            <a:avLst/>
          </a:prstGeom>
        </p:spPr>
      </p:pic>
      <p:sp>
        <p:nvSpPr>
          <p:cNvPr id="159" name="圆角矩形 158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04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逐幕体验：学生做什么、AI 做什么、星级怎么变&lt;/Text&gt;&#10;      &lt;Text style={{ fontSize: 15, color: '#64748B', marginTop: 6 }}&gt;星级只升不降 · 5 星只能由正式考核给出 · 学生说「我懂了」不是证据&lt;/Text&gt;&#10;    &lt;/Box&gt;&#10;  &lt;/Box&gt;&#10;  &lt;Box style={{ position: 'absolute', top: 128, left: 64, right: 64, bottom: 56, gap: 14 }}&gt;&#10;    &lt;Table&#10;      style={{ width: '100%', height: 350 }}&#10;      defaultTextStyle={{ fontSize: 14, textAlign: 'left', color: '#0F2E5C' }}&#10;      defaultCellStyle={{ border: { bottom: { width: 1, color: '#D7E4F6' } }, padding: 8 }}&#10;      cells={[&#10;        [&#10;          { text: '幕', textStyle: { bold: true, color: '#FFFFFF', fontSize: 14 }, cellStyle: { background: { color: '#1B4F9C' } } },&#10;          { text: '学生经历什么', textStyle: { bold: true, color: '#FFFFFF', fontSize: 14 }, cellStyle: { background: { color: '#1B4F9C' } } },&#10;          { text: 'AI 在做什么', textStyle: { bold: true, color: '#FFFFFF', fontSize: 14 }, cellStyle: { background: { color: '#1B4F9C' } } },&#10;          { text: '掌握星级变化', textStyle: { bold: true, color: '#FFFFFF', fontSize: 14 }, cellStyle: { background: { color: '#1B4F9C' } } },&#10;        ],&#10;        [&#10;          { text: '开场 intro', textStyle: { bold: true, color: '#1B4F9C' } },&#10;          '收到本课目标与互动方式说明',&#10;          '系统幕：交代规则，一轮后立即切幕',&#10;          '—',&#10;        ],&#10;        [&#10;          { text: '引导学习', textStyle: { bold: true, color: '#1B4F9C' }, cellStyle: { background: { color: '#E8F0FB' } } },&#10;          { text: '听讲解、被主动提问，按片段逐段推进', cellStyle: { background: { color: '#E8F0FB' } } },&#10;          { text: '按 segments/seg-XXX.json 逐段讲解，讲完即记「已接触」', cellStyle: { background: { color: '#E8F0FB' } } },&#10;          { text: '0 → 1 星（AI 讲过即记，不讲不记）', textStyle: { color: '#B87700', bold: true }, cellStyle: { background: { color: '#E8F0FB' } } },&#10;        ],&#10;        [&#10;          { text: '复述与讨论', textStyle: { bold: true, color: '#1B4F9C' } },&#10;          '用自己的话把刚讲的内容讲回来',&#10;          '从题库抽检验问题追问 1–2 轮，按完整度判星、补缺口',&#10;          { text: '1 → 2 星（零散要点）→ 3 星（完整讲回）', textStyle: { color: '#B87700', bold: true } },&#10;        ],&#10;        [&#10;          { text: '深层探究', textStyle: { bold: true, color: '#1B4F9C' }, cellStyle: { background: { color: '#E8F0FB' } } },&#10;          { text: '回答「为什么 / 如何实现 / 用在哪 / 关联学科」', cellStyle: { background: { color: '#E8F0FB' } } },&#10;          { text: '拿 KNOWLEDGE-BASE 的 4 个探究字段追问；没答透的旧目标优先补问', cellStyle: { background: { color: '#E8F0FB' } } },&#10;          { text: '3 → 4 星（说出机制原因）', textStyle: { color: '#B87700', bold: true }, cellStyle: { background: { color: '#E8F0FB' } } },&#10;        ],&#10;        [&#10;          { text: '全班讨论', textStyle: { bold: true, color: '#1B4F9C' } },&#10;          '转入老师主导的课堂讨论',&#10;          '退居协助：提示「请老师主导」+ 计时，到点切幕',&#10;          '星级不变，只记综合表现快照',&#10;        ],&#10;        [&#10;          { text: '收尾 ending', textStyle: { bold: true, color: '#1B4F9C' }, cellStyle: { background: { color: '#E8F0FB' } } },&#10;          { text: '收到总结与遗留问题清单', cellStyle: { background: { color: '#E8F0FB' } } },&#10;          { text: '系统幕：汇总本课，列出未关闭目标', cellStyle: { background: { color: '#E8F0FB' } } },&#10;          { text: '—（考核入口独立给 5 星）', cellStyle: { background: { color: '#E8F0FB' } } },&#10;        ],&#10;      ]}&#10;    /&gt;&#10;    &lt;Box style={{ background: '#E8F0FB', borderRadius: 10, padding: '14px 18px' }}&gt;&#10;      &lt;Text style={{ fontSize: 14.5, color: '#0F2E5C', lineHeight: 1.6 }}&gt;&#10;        &lt;span style={{ fontWeight: 'bold', color: '#1B4F9C' }}&gt;每幕结束拍一张快照&lt;/span&gt;（stage_snapshot 写入 mastery-history.json）：记本幕耗时、关闭了哪些目标、还剩哪些 —— 老师看到的是学生「一步步怎么变的」，不只是一个最终分数。&#10;      &lt;/Text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05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矩形 1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64" name="圆角矩形 163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838200" y="342900"/>
            <a:ext cx="69342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逐幕体验：学生做什么、</a:t>
            </a: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做什么、星级怎么变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838200" y="790575"/>
            <a:ext cx="6934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星级只升不降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5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星只能由正式考核给出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学生说「我懂了」不是证据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7" name="表格 166"/>
          <p:cNvGraphicFramePr/>
          <p:nvPr/>
        </p:nvGraphicFramePr>
        <p:xfrm>
          <a:off x="609600" y="1219200"/>
          <a:ext cx="10972800" cy="3333750"/>
        </p:xfrm>
        <a:graphic>
          <a:graphicData uri="http://schemas.openxmlformats.org/drawingml/2006/table">
            <a:tbl>
              <a:tblPr/>
              <a:tblGrid>
                <a:gridCol w="885246"/>
                <a:gridCol w="2943733"/>
                <a:gridCol w="4432029"/>
                <a:gridCol w="2711791"/>
              </a:tblGrid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幕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学生经历什么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 在做什么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掌握星级变化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开场 intro</a:t>
                      </a:r>
                      <a:endParaRPr sz="105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收到本课目标与互动方式说明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系统幕：交代规则，一轮后立即切幕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引导学习</a:t>
                      </a:r>
                      <a:endParaRPr sz="105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听讲解、被主动提问，按片段逐段推进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 segments/seg-XXX.json 逐段讲解，讲完即记「已接触」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→ 1 星（AI 讲过即记，不讲不记）</a:t>
                      </a:r>
                      <a:endParaRPr sz="1050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复述与讨论</a:t>
                      </a:r>
                      <a:endParaRPr sz="105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用自己的话把刚讲的内容讲回来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从题库抽检验问题追问 1–2 轮，按完整度判星、补缺口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 → 2 星（零散要点）→ 3 星（完整讲回）</a:t>
                      </a:r>
                      <a:endParaRPr sz="1050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深层探究</a:t>
                      </a:r>
                      <a:endParaRPr sz="105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回答「为什么 / 如何实现 / 用在哪 / 关联学科」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拿 KNOWLEDGE-BASE 的 4 个探究字段追问；没答透的旧目标优先补问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 → 4 星（说出机制原因）</a:t>
                      </a:r>
                      <a:endParaRPr sz="1050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全班讨论</a:t>
                      </a:r>
                      <a:endParaRPr sz="105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转入老师主导的课堂讨论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退居协助：提示「请老师主导」+ 计时，到点切幕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星级不变，只记综合表现快照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收尾 ending</a:t>
                      </a:r>
                      <a:endParaRPr sz="105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收到总结与遗留问题清单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系统幕：汇总本课，列出未关闭目标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—（考核入口独立给 5 星）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</a:tbl>
          </a:graphicData>
        </a:graphic>
      </p:graphicFrame>
      <p:sp>
        <p:nvSpPr>
          <p:cNvPr id="168" name="圆角矩形 167"/>
          <p:cNvSpPr/>
          <p:nvPr/>
        </p:nvSpPr>
        <p:spPr>
          <a:xfrm>
            <a:off x="609600" y="46863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781050" y="4819650"/>
            <a:ext cx="106299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9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每幕结束拍一张快照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stage_snapshot 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写入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mastery-history.json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）：记本幕耗时、关闭了哪些目标、还剩哪些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老师看到的是学生「一步步怎么变的」，不只是一个最终分数。</a:t>
            </a:r>
            <a:endParaRPr lang="zh-CN" sz="1090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圆角矩形 169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05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 descr="&lt;Slide style={{ width: '1280px', height: '720px', padding: 0, background: 'linear-gradient(135deg, #1B4F9C 0%, #0F2E5C 100%)' }}&gt;&#10;  &lt;Box style={{ padding: '110px 96px', gap: 8 }}&gt;&#10;    &lt;Text style={{ fontSize: 150, fontWeight: 'bold', color: 'rgba(255,255,255,0.18)', lineHeight: 1 }}&gt;02&lt;/Text&gt;&#10;    &lt;Text style={{ fontSize: 46, fontWeight: 'bold', color: '#FFFFFF', marginTop: 4 }}&gt;老师端 · 课前配置&lt;/Text&gt;&#10;    &lt;Text style={{ fontSize: 19, color: '#BFD4F2', lineHeight: 1.7, marginTop: 18, maxWidth: 780 }}&gt;老师不用写提示词、不用懂状态机。开课前只做两件事：定阶段与时长，填课程内容文件。规则与配置就是燃料。&lt;/Text&gt;&#10;    &lt;Box style={{ width: 64, height: 6, background: '#F59E0B', marginTop: 28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矩形 1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1047750"/>
            <a:ext cx="10363200" cy="1714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1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1250" b="1">
              <a:solidFill>
                <a:srgbClr val="FFFFFF">
                  <a:alpha val="1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914400" y="2876550"/>
            <a:ext cx="103632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老师端</a:t>
            </a:r>
            <a:r>
              <a:rPr lang="en-US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课前配置</a:t>
            </a:r>
            <a:endParaRPr lang="zh-CN" sz="3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914400" y="3657600"/>
            <a:ext cx="90487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老师不用写提示词、不用懂状态机。开课前只做两件事：定阶段与时长，填课程内容文件。规则与配置就是燃料。</a:t>
            </a:r>
            <a:endParaRPr lang="zh-CN" sz="142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914400" y="4371975"/>
            <a:ext cx="609600" cy="5715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第一步：lesson-plan.json 定阶段与时长&lt;/Text&gt;&#10;      &lt;Text style={{ fontSize: 15, color: '#64748B', marginTop: 6 }}&gt;lesson-data/lesson-plan.json —— 编排入口，load_plan 节点开课时读取并校验&lt;/Text&gt;&#10;    &lt;/Box&gt;&#10;  &lt;/Box&gt;&#10;  &lt;Box style={{ position: 'absolute', top: 128, left: 64, right: 64, bottom: 56, flexDirection: 'row', gap: 28 }}&gt;&#10;    &lt;Box style={{ width: '54%' }}&gt;&#10;      &lt;CodeBlock&#10;        language='json'&#10;        theme='github-light'&#10;        fontSize={12.5}&#10;        width={610}&#10;        code={`{&#10;  &quot;lesson_id&quot;: &quot;example-week-1&quot;,&#10;  &quot;total_minutes&quot;: 45,&#10;  &quot;stages&quot;: [&#10;    { &quot;id&quot;: &quot;guided_learning&quot;,  &quot;enabled&quot;: true,&#10;      &quot;minutes&quot;: 22, &quot;advance_when&quot;: &quot;either&quot; },&#10;    { &quot;id&quot;: &quot;recap_discussion&quot;, &quot;enabled&quot;: true,&#10;      &quot;minutes&quot;: 9,  &quot;advance_when&quot;: &quot;either&quot; },&#10;    { &quot;id&quot;: &quot;deep_inquiry&quot;,     &quot;enabled&quot;: true,&#10;      &quot;minutes&quot;: 7,  &quot;advance_when&quot;: &quot;either&quot; },&#10;    { &quot;id&quot;: &quot;class_discussion&quot;, &quot;enabled&quot;: false,&#10;      &quot;minutes&quot;: 7,  &quot;advance_when&quot;: &quot;budget&quot; }&#10;  ],&#10;  &quot;advance_policy&quot;: {&#10;    &quot;on_budget_exhausted&quot;: &quot;wrap_up&quot;,  // 到点:收尾后切&#10;    &quot;on_evidence_reached&quot;: &quot;advance&quot;,  // 证据达标:切幕&#10;    &quot;min_stage_minutes&quot;: 2,            // 防秒切&#10;    &quot;max_stage_overrun_minutes&quot;: 3     // 延长上限&#10;  }&#10;}`}&#10;      /&gt;&#10;    &lt;/Box&gt;&#10;    &lt;Box style={{ flex: 1, gap: 14 }}&gt;&#10;      &lt;Table&#10;        style={{ width: '100%', height: 230 }}&#10;        defaultTextStyle={{ fontSize: 13.5, textAlign: 'left', color: '#0F2E5C' }}&#10;        defaultCellStyle={{ border: { bottom: { width: 1, color: '#D7E4F6' } }, padding: 7 }}&#10;        cells={[&#10;          [&#10;            { text: '字段', textStyle: { bold: true, color: '#FFFFFF' }, cellStyle: { background: { color: '#1B4F9C' } } },&#10;            { text: '含义', textStyle: { bold: true, color: '#FFFFFF' }, cellStyle: { background: { color: '#1B4F9C' } } },&#10;          ],&#10;          [&#10;            { text: 'enabled', textStyle: { bold: true, color: '#1B4F9C' } },&#10;            'false → 整段跳过（这门课可以不要讨论）',&#10;          ],&#10;          [&#10;            { text: 'minutes', textStyle: { bold: true, color: '#1B4F9C' }, cellStyle: { background: { color: '#E8F0FB' } } },&#10;            { text: '这一幕的时长预算，真实时钟到点切幕', cellStyle: { background: { color: '#E8F0FB' } } },&#10;          ],&#10;          [&#10;            { text: 'advance_when', textStyle: { bold: true, color: '#1B4F9C' } },&#10;            'either 证据或时间 / evidence 学透才走 / budget 只看时间',&#10;          ],&#10;        ]}&#10;      /&gt;&#10;      &lt;Box style={{ background: '#E8F0FB', borderRadius: 10, padding: '14px 18px', marginTop: 'auto' }}&gt;&#10;        &lt;Text style={{ fontSize: 14.5, color: '#0F2E5C', lineHeight: 1.65 }}&gt;&#10;          &lt;span style={{ fontWeight: 'bold', color: '#1B4F9C' }}&gt;改 JSON 就是改课。&lt;/span&gt;加一幕、砍一幕、调整分钟数，都不用碰任何代码与提示词 —— 状态机每轮读这张表。&#10;        &lt;/Text&gt;&#10;      &lt;/Box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07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1" name="圆角矩形 180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838200" y="342900"/>
            <a:ext cx="59912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第一步：</a:t>
            </a: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lesson-plan.json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定阶段与时长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838200" y="790575"/>
            <a:ext cx="5991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lesson-data/lesson-plan.json ——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编排入口，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load_plan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节点开课时读取并校验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84" name="表格 183"/>
          <p:cNvGraphicFramePr/>
          <p:nvPr/>
        </p:nvGraphicFramePr>
        <p:xfrm>
          <a:off x="6800850" y="1219200"/>
          <a:ext cx="4781550" cy="2190752"/>
        </p:xfrm>
        <a:graphic>
          <a:graphicData uri="http://schemas.openxmlformats.org/drawingml/2006/table">
            <a:tbl>
              <a:tblPr/>
              <a:tblGrid>
                <a:gridCol w="1092753"/>
                <a:gridCol w="3688797"/>
              </a:tblGrid>
              <a:tr h="5476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字段</a:t>
                      </a:r>
                      <a:endParaRPr sz="10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含义</a:t>
                      </a:r>
                      <a:endParaRPr sz="10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5476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enabled</a:t>
                      </a:r>
                      <a:endParaRPr sz="101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false → 整段跳过（这门课可以不要讨论）</a:t>
                      </a:r>
                      <a:endParaRPr sz="101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76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minutes</a:t>
                      </a:r>
                      <a:endParaRPr sz="101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这一幕的时长预算，真实时钟到点切幕</a:t>
                      </a:r>
                      <a:endParaRPr sz="101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5476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advance_when</a:t>
                      </a:r>
                      <a:endParaRPr sz="101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either 证据或时间 / evidence 学透才走 / budget 只看时间</a:t>
                      </a:r>
                      <a:endParaRPr sz="101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5" name="圆角矩形 184"/>
          <p:cNvSpPr/>
          <p:nvPr/>
        </p:nvSpPr>
        <p:spPr>
          <a:xfrm>
            <a:off x="6800850" y="5505450"/>
            <a:ext cx="4781550" cy="819150"/>
          </a:xfrm>
          <a:prstGeom prst="roundRect">
            <a:avLst>
              <a:gd name="adj" fmla="val 11628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6972300" y="5638800"/>
            <a:ext cx="4438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9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改</a:t>
            </a:r>
            <a:r>
              <a:rPr lang="en-US" sz="109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 JSON </a:t>
            </a:r>
            <a:r>
              <a:rPr lang="zh-CN" sz="109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就是改课。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加一幕、砍一幕、调整分钟数，都不用碰任何代码与提示词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状态机每轮读这张表。</a:t>
            </a:r>
            <a:endParaRPr lang="zh-CN" sz="1090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圆角矩形 186"/>
          <p:cNvSpPr/>
          <p:nvPr/>
        </p:nvSpPr>
        <p:spPr>
          <a:xfrm>
            <a:off x="609600" y="1219200"/>
            <a:ext cx="5924550" cy="4267200"/>
          </a:xfrm>
          <a:prstGeom prst="roundRect">
            <a:avLst>
              <a:gd name="adj" fmla="val 1786"/>
            </a:avLst>
          </a:prstGeom>
          <a:solidFill>
            <a:srgbClr val="F6F8FA"/>
          </a:solidFill>
        </p:spPr>
        <p:txBody>
          <a:bodyPr/>
          <a:p/>
        </p:txBody>
      </p:sp>
      <p:sp>
        <p:nvSpPr>
          <p:cNvPr id="188" name="文本框 187"/>
          <p:cNvSpPr txBox="1"/>
          <p:nvPr/>
        </p:nvSpPr>
        <p:spPr>
          <a:xfrm>
            <a:off x="762000" y="1352550"/>
            <a:ext cx="5619750" cy="4000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"lesson_id"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"example-week-1"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"total_minutes"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45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"stages"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[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{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"id"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"guided_learning"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"enabled"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true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22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"advance_when"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"either"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},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{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"id"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"recap_discussion"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"enabled"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true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9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"advance_when"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"either"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},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{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"id"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"deep_inquiry"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"enabled"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true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7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"advance_when"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"either"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},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{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"id"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"class_discussion"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"enabled"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false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7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"advance_when"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"budget"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}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],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"advance_policy"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{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"on_budget_exhausted"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"wrap_up"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// 到点:收尾后切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"on_evidence_reached"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"advance"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// 证据达标:切幕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"min_stage_minutes"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2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    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// 防秒切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"max_stage_overrun_minutes"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3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// 延长上限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}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07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第二步：填课程内容 —— 写在哪、谁在读&lt;/Text&gt;&#10;      &lt;Text style={{ fontSize: 15, color: '#64748B', marginTop: 6 }}&gt;五类内容文件，各自的用途与被编排器读取的时机&lt;/Text&gt;&#10;    &lt;/Box&gt;&#10;  &lt;/Box&gt;&#10;  &lt;Box style={{ position: 'absolute', top: 128, left: 64, right: 64, bottom: 56, flexDirection: 'row', gap: 24 }}&gt;&#10;    &lt;Box style={{ width: 240, background: '#0F2E5C', borderRadius: 12, padding: '24px 22px', gap: 14 }}&gt;&#10;      &lt;Text style={{ fontSize: 52, fontWeight: 'bold', color: '#F59E0B', lineHeight: 1 }}&gt;5 类&lt;/Text&gt;&#10;      &lt;Text style={{ fontSize: 17, color: '#FFFFFF', lineHeight: 1.6 }}&gt;内容文件&lt;br /&gt;构成一门课的&lt;br /&gt;全部「燃料」&lt;/Text&gt;&#10;      &lt;Text style={{ fontSize: 13, color: '#9FB9E0', lineHeight: 1.7, marginTop: 'auto' }}&gt;提问三级兜底链：&lt;br /&gt;stages 出题 → TMISSION 检验问题 → KNOWLEDGE-BASE 检测问题&lt;/Text&gt;&#10;    &lt;/Box&gt;&#10;    &lt;Box style={{ flex: 1 }}&gt;&#10;      &lt;Table&#10;        style={{ width: '100%', height: '100%' }}&#10;        defaultTextStyle={{ fontSize: 13, textAlign: 'left', color: '#0F2E5C' }}&#10;        defaultCellStyle={{ border: { bottom: { width: 1, color: '#D7E4F6' } }, padding: 7 }}&#10;        cells={[&#10;          [&#10;            { text: '文件', textStyle: { bold: true, color: '#FFFFFF' }, cellStyle: { background: { color: '#1B4F9C' } } },&#10;            { text: '老师写什么', textStyle: { bold: true, color: '#FFFFFF' }, cellStyle: { background: { color: '#1B4F9C' } } },&#10;            { text: '编排器何时 / 被谁读取', textStyle: { bold: true, color: '#FFFFFF' }, cellStyle: { background: { color: '#1B4F9C' } } },&#10;          ],&#10;          [&#10;            { text: 'rules/KNOWLEDGE-BASE.md', textStyle: { bold: true, color: '#1B4F9C', fontSize: 12 } },&#10;            '知识点目录：定义、检测问题、掌握表现 + 4 个探究字段',&#10;            { text: '每轮装配；探究字段是深层探究的唯一燃料；检测问题是题库最后一级兜底', cellStyle: { background: { color: '#E8F0FB' } } },&#10;          ],&#10;          [&#10;            { text: 'runtime/TMISSION.md', textStyle: { bold: true, color: '#1B4F9C', fontSize: 12 } },&#10;            '老师目标、核心难点（含检验问题）、易混淆点名称',&#10;            '讲解与复述阶段读取；检验问题是复述题库的第 2 级来源',&#10;          ],&#10;          [&#10;            { text: 'runtime/LESSON-CONTENT.md', textStyle: { bold: true, color: '#1B4F9C', fontSize: 12 }, cellStyle: { background: { color: '#E8F0FB' } } },&#10;            { text: '本课先修 / 新内容 / 任务 / 成功证据', cellStyle: { background: { color: '#E8F0FB' } } },&#10;            { text: '讲解阶段装配，决定「这一段要讲到什么程度」', cellStyle: { background: { color: '#E8F0FB' } } },&#10;          ],&#10;          [&#10;            { text: 'lesson-data/segments/seg-XXX.json', textStyle: { bold: true, color: '#1B4F9C', fontSize: 12 } },&#10;            '每个片段讲什么，order 定顺序，绑定 KP 编号',&#10;            '引导学习阶段逐段驱动：active_segment_id 指向哪段讲哪段',&#10;          ],&#10;          [&#10;            { text: 'stages/&lt;阶段&gt;/questions · rubric · prompt.md', textStyle: { bold: true, color: '#1B4F9C', fontSize: 12 }, cellStyle: { background: { color: '#E8F0FB' } } },&#10;            { text: '各阶段的题目、评判标准、AI 提示词（可留空）', cellStyle: { background: { color: '#E8F0FB' } } },&#10;            { text: '仅演到对应幕时加载：teach 读 prompt/questions，judge_mastery 读 rubric', cellStyle: { background: { color: '#E8F0FB' } } },&#10;          ],&#10;        ]}&#10;      /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08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矩形 1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4" name="圆角矩形 193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838200" y="342900"/>
            <a:ext cx="60769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第二步：填课程内容</a:t>
            </a: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写在哪、谁在读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838200" y="790575"/>
            <a:ext cx="6076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五类内容文件，各自的用途与被编排器读取的时机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圆角矩形 196"/>
          <p:cNvSpPr/>
          <p:nvPr/>
        </p:nvSpPr>
        <p:spPr>
          <a:xfrm>
            <a:off x="609600" y="1219200"/>
            <a:ext cx="2286000" cy="5105400"/>
          </a:xfrm>
          <a:prstGeom prst="roundRect">
            <a:avLst>
              <a:gd name="adj" fmla="val 5000"/>
            </a:avLst>
          </a:prstGeom>
          <a:solidFill>
            <a:srgbClr val="0F2E5C"/>
          </a:soli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819150" y="1447800"/>
            <a:ext cx="18669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39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类</a:t>
            </a:r>
            <a:endParaRPr lang="zh-CN" sz="39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819150" y="2181225"/>
            <a:ext cx="1866900" cy="933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内容文件</a:t>
            </a:r>
            <a:endParaRPr lang="zh-CN" sz="12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构成一门课的</a:t>
            </a:r>
            <a:endParaRPr lang="zh-CN" sz="12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全部「燃料」</a:t>
            </a:r>
            <a:endParaRPr lang="zh-CN" sz="12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819150" y="5076825"/>
            <a:ext cx="1866900" cy="1019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提问三级兜底链：</a:t>
            </a:r>
            <a:endParaRPr lang="zh-CN" sz="975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stages </a:t>
            </a:r>
            <a:r>
              <a:rPr lang="zh-CN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出题</a:t>
            </a:r>
            <a:r>
              <a:rPr lang="en-US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 → TMISSION </a:t>
            </a:r>
            <a:r>
              <a:rPr lang="zh-CN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检验问题</a:t>
            </a:r>
            <a:r>
              <a:rPr lang="en-US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 → KNOWLEDGE-BASE </a:t>
            </a:r>
            <a:r>
              <a:rPr lang="zh-CN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检测问题</a:t>
            </a:r>
            <a:endParaRPr lang="zh-CN" sz="975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01" name="表格 200"/>
          <p:cNvGraphicFramePr/>
          <p:nvPr/>
        </p:nvGraphicFramePr>
        <p:xfrm>
          <a:off x="3124200" y="1219200"/>
          <a:ext cx="8458200" cy="5105400"/>
        </p:xfrm>
        <a:graphic>
          <a:graphicData uri="http://schemas.openxmlformats.org/drawingml/2006/table">
            <a:tbl>
              <a:tblPr/>
              <a:tblGrid>
                <a:gridCol w="2241022"/>
                <a:gridCol w="2603472"/>
                <a:gridCol w="3613706"/>
              </a:tblGrid>
              <a:tr h="58971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文件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老师写什么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编排器何时 / 被谁读取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9814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rules/KNOWLEDGE-BASE.md</a:t>
                      </a:r>
                      <a:r>
                        <a:rPr lang="zh-CN"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答疑）</a:t>
                      </a:r>
                      <a:endParaRPr lang="zh-CN" sz="90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知识点目录：定义、检测问题、掌握表现 + 4 个探究字段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每轮装配；探究字段是深层探究的唯一燃料；检测问题是题库最后一级兜底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9814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runtime/TMISSION.md</a:t>
                      </a:r>
                      <a:r>
                        <a:rPr lang="zh-CN"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答疑）</a:t>
                      </a:r>
                      <a:endParaRPr lang="zh-CN" sz="90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老师目标、核心难点（含检验问题）、易混淆点名称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讲解与复述阶段读取；检验问题是复述题库的第 2 级来源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971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runtime/LESSON-CONTENT.md</a:t>
                      </a:r>
                      <a:r>
                        <a:rPr lang="zh-CN"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答疑）</a:t>
                      </a:r>
                      <a:endParaRPr lang="zh-CN" sz="90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本课先修 / 新内容 / 任务 / 成功证据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讲解阶段装配，决定「这一段要讲到什么程度」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9814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 strike="sngStrike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lesson-data/segments/seg-XXX.json</a:t>
                      </a:r>
                      <a:endParaRPr sz="900" b="1" strike="sngStrike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每个片段讲什么，order 定顺序，绑定 KP 编号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引导学习阶段逐段驱动：active_segment_id 指向哪段讲哪段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814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stages/&lt;阶段&gt;/questions · rubric · prompt.md</a:t>
                      </a:r>
                      <a:endParaRPr sz="90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各阶段的题目、评判标准、AI 提示词（可留空）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仅演到对应幕时加载：teach 读 prompt/questions，judge_mastery 读 rubric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</a:tbl>
          </a:graphicData>
        </a:graphic>
      </p:graphicFrame>
      <p:sp>
        <p:nvSpPr>
          <p:cNvPr id="202" name="圆角矩形 201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08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空壳也能跑：降级链与启动校验&lt;/Text&gt;&#10;      &lt;Text style={{ fontSize: 15, color: '#64748B', marginTop: 6 }}&gt;「目前能不能上课」是确定性判断，不依赖模型&lt;/Text&gt;&#10;    &lt;/Box&gt;&#10;  &lt;/Box&gt;&#10;  &lt;Box style={{ position: 'absolute', top: 128, left: 64, right: 64, bottom: 56, gap: 16 }}&gt;&#10;    &lt;Box style={{ background: 'linear-gradient(135deg, #1B4F9C, #0F2E5C)', borderRadius: 12, padding: '20px 28px', flexDirection: 'row', alignItems: 'center', gap: 28 }}&gt;&#10;      &lt;Text style={{ fontSize: 56, fontWeight: 'bold', color: '#F59E0B', lineHeight: 1 }}&gt;0&lt;/Text&gt;&#10;      &lt;Text style={{ fontSize: 18, color: '#FFFFFF', lineHeight: 1.6 }}&gt;阶段内容文件&lt;span style={{ fontWeight: 'bold' }}&gt;一个都不填&lt;/span&gt;也能开课 —— 缺失即有降级兜底；把 stages/ 填上后质量自然提升，&lt;span style={{ fontWeight: 'bold' }}&gt;不需要改任何代码&lt;/span&gt;。&lt;/Text&gt;&#10;    &lt;/Box&gt;&#10;    &lt;Box style={{ flex: 1, flexDirection: 'row', gap: 22 }}&gt;&#10;      &lt;Box style={{ flex: 1, background: '#E8F0FB', borderRadius: 12, padding: '18px 22px', gap: 10 }}&gt;&#10;        &lt;Text style={{ fontSize: 18, fontWeight: 'bold', color: '#0F2E5C' }}&gt;缺什么 → 怎么降级&lt;/Text&gt;&#10;        &lt;Box style={{ gap: 9 }}&gt;&#10;          {[&#10;            ['questions.md 空', '改用 TMISSION 检验问题 → KNOWLEDGE-BASE 检测问题'],&#10;            ['rubric.md 空', '只用 MASTERY-STAR-RULES.md 通用判星标准'],&#10;            ['prompt.md 空', '用内置默认提示词（如「用自己的话讲回来」）'],&#10;            ['讨论阶段无内容', '提示「请老师主导」+ 按 minutes 计时，到点切幕'],&#10;          ].map((r, i) =&gt; (&#10;            &lt;Box key={i} style={{ flexDirection: 'row', gap: 12 }}&gt;&#10;              &lt;Text style={{ fontSize: 13, fontWeight: 'bold', color: '#1B4F9C', width: 128 }}&gt;{r[0]}&lt;/Text&gt;&#10;              &lt;Text style={{ fontSize: 13, color: '#0F2E5C', flex: 1, lineHeight: 1.55 }}&gt;{r[1]}&lt;/Text&gt;&#10;            &lt;/Box&gt;&#10;          ))}&#10;        &lt;/Box&gt;&#10;      &lt;/Box&gt;&#10;      &lt;Box style={{ flex: 1, border: '1px solid #D7E4F6', borderRadius: 12, padding: '18px 22px', gap: 10 }}&gt;&#10;        &lt;Text style={{ fontSize: 18, fontWeight: 'bold', color: '#0F2E5C' }}&gt;开课前 8 项校验（load_plan 执行）&lt;/Text&gt;&#10;        &lt;Text style={{ fontSize: 13, color: '#0F2E5C', lineHeight: 1.85 }}&gt;&#10;          ① lesson-plan.json 存在且合法　② total_minutes &amp;gt; 0&lt;br /&gt;&#10;          ③ 启用阶段分钟之和 ≤ 总时长　④ segments 文件齐全&lt;br /&gt;&#10;          ⑤ 复述/探究/讨论幕的 stages/&amp;lt;id&amp;gt;/ 目录存在&lt;br /&gt;&#10;          ⑥ runtime/ 模板齐全（缺失自动生成空白模板）&lt;br /&gt;&#10;          ⑦ KNOWLEDGE-BASE.md 存在（缺失仅警告，可开课不能提问）&lt;br /&gt;&#10;          ⑧ advance_policy 字段齐全、取值合法&#10;        &lt;/Text&gt;&#10;        &lt;Text style={{ fontSize: 12.5, color: '#64748B', lineHeight: 1.6, marginTop: 'auto' }}&gt;校验只到「目录/文件存在」—— 文件是空的也算通过，空壳是合法状态。硬项失败则拒绝开课并写入 DIALOGUE-LOG。&lt;/Text&gt;&#10;      &lt;/Box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09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矩形 2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07" name="圆角矩形 206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838200" y="342900"/>
            <a:ext cx="45339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后三个阶段</a:t>
            </a:r>
            <a:r>
              <a:rPr lang="en-US" alt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空壳也能跑：降级链与启动校验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838200" y="790575"/>
            <a:ext cx="4533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「目前能不能上课」是确定性判断，不依赖模型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圆角矩形 209"/>
          <p:cNvSpPr/>
          <p:nvPr/>
        </p:nvSpPr>
        <p:spPr>
          <a:xfrm>
            <a:off x="609600" y="1219200"/>
            <a:ext cx="10972800" cy="1028700"/>
          </a:xfrm>
          <a:prstGeom prst="roundRect">
            <a:avLst>
              <a:gd name="adj" fmla="val 11111"/>
            </a:avLst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876300" y="1409700"/>
            <a:ext cx="333375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4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476375" y="1571625"/>
            <a:ext cx="87153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阶段内容文件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一个都不填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也能开课</a:t>
            </a: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缺失即有降级兜底；把</a:t>
            </a: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stages/ 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填上后质量自然提升，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不需要改任何代码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09600" y="2400300"/>
            <a:ext cx="5381625" cy="3924300"/>
          </a:xfrm>
          <a:prstGeom prst="roundRect">
            <a:avLst>
              <a:gd name="adj" fmla="val 2913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819150" y="2571750"/>
            <a:ext cx="49625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缺什么</a:t>
            </a:r>
            <a:r>
              <a:rPr lang="en-US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怎么降级</a:t>
            </a:r>
            <a:endParaRPr lang="zh-CN" sz="13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819150" y="2876550"/>
            <a:ext cx="12192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questions.md </a:t>
            </a:r>
            <a:r>
              <a:rPr lang="zh-CN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空</a:t>
            </a:r>
            <a:endParaRPr lang="zh-CN" sz="975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2152650" y="2876550"/>
            <a:ext cx="36290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改用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TMISSION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检验问题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→ KNOWLEDGE-BASE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检测问题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819150" y="3200400"/>
            <a:ext cx="12192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rubric.md </a:t>
            </a:r>
            <a:r>
              <a:rPr lang="zh-CN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空</a:t>
            </a:r>
            <a:endParaRPr lang="zh-CN" sz="975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152650" y="3200400"/>
            <a:ext cx="36290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只用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MASTERY-STAR-RULES.md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通用判星标准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819150" y="3524250"/>
            <a:ext cx="12192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prompt.md </a:t>
            </a:r>
            <a:r>
              <a:rPr lang="zh-CN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空</a:t>
            </a:r>
            <a:endParaRPr lang="zh-CN" sz="975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2152650" y="3524250"/>
            <a:ext cx="36290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用内置默认提示词（如「用自己的话讲回来」）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819150" y="3848100"/>
            <a:ext cx="12192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讨论阶段无内容</a:t>
            </a:r>
            <a:endParaRPr lang="zh-CN" sz="975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2152650" y="3848100"/>
            <a:ext cx="36290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提示「请老师主导」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minutes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计时，到点切幕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6200775" y="2400300"/>
            <a:ext cx="5381625" cy="3924300"/>
          </a:xfrm>
          <a:prstGeom prst="roundRect">
            <a:avLst>
              <a:gd name="adj" fmla="val 2913"/>
            </a:avLst>
          </a:prstGeom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6410325" y="2571750"/>
            <a:ext cx="49625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开课前</a:t>
            </a:r>
            <a:r>
              <a:rPr lang="en-US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项校验（</a:t>
            </a:r>
            <a:r>
              <a:rPr lang="en-US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load_plan </a:t>
            </a:r>
            <a:r>
              <a:rPr lang="zh-CN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执行）</a:t>
            </a:r>
            <a:endParaRPr lang="zh-CN" sz="13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6410325" y="2876550"/>
            <a:ext cx="4962525" cy="1657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① lesson-plan.json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存在且合法　②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total_minutes &gt; 0</a:t>
            </a:r>
            <a:endParaRPr lang="en-US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启用阶段分钟之和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≤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总时长　④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segments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文件齐全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⑤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复述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探究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讨论幕的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stages/&lt;id&gt;/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目录存在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⑥ runtime/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模板齐全（缺失自动生成空白模板）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⑦ KNOWLEDGE-BASE.md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存在（缺失仅警告，可开课不能提问）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⑧ advance_policy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字段齐全、取值合法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6410325" y="5695950"/>
            <a:ext cx="4962525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校验只到「目录</a:t>
            </a:r>
            <a:r>
              <a:rPr lang="en-US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文件存在」——</a:t>
            </a:r>
            <a:r>
              <a:rPr lang="en-US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文件是空的也算通过，空壳是合法状态。硬项失败则拒绝开课并写入</a:t>
            </a:r>
            <a:r>
              <a:rPr lang="en-US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DIALOGUE-LOG</a:t>
            </a:r>
            <a:r>
              <a:rPr lang="zh-CN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09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 descr="&lt;Slide style={{ width: '1280px', height: '720px', padding: 0, background: 'linear-gradient(135deg, #1B4F9C 0%, #0F2E5C 100%)' }}&gt;&#10;  &lt;Box style={{ padding: '110px 96px', gap: 8 }}&gt;&#10;    &lt;Text style={{ fontSize: 150, fontWeight: 'bold', color: 'rgba(255,255,255,0.18)', lineHeight: 1 }}&gt;03&lt;/Text&gt;&#10;    &lt;Text style={{ fontSize: 46, fontWeight: 'bold', color: '#FFFFFF', marginTop: 4 }}&gt;编排器 · 代码实现&lt;/Text&gt;&#10;    &lt;Text style={{ fontSize: 19, color: '#BFD4F2', lineHeight: 1.7, marginTop: 18, maxWidth: 780 }}&gt;一个由 host_phase 驱动的课堂状态机：每轮对话读计划 → 算耗时 → 判证据 → 决定换不换幕。orchestrator/agent.py 已实现并可运行。&lt;/Text&gt;&#10;    &lt;Box style={{ width: 64, height: 6, background: '#F59E0B', marginTop: 28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914400" y="1047750"/>
            <a:ext cx="10363200" cy="1714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1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1250" b="1">
              <a:solidFill>
                <a:srgbClr val="FFFFFF">
                  <a:alpha val="1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914400" y="2876550"/>
            <a:ext cx="103632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编排器</a:t>
            </a:r>
            <a:r>
              <a:rPr lang="en-US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代码实现</a:t>
            </a:r>
            <a:endParaRPr lang="zh-CN" sz="3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914400" y="3657600"/>
            <a:ext cx="10363200" cy="7429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一个由</a:t>
            </a:r>
            <a:r>
              <a:rPr lang="en-US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 host_phase </a:t>
            </a: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驱动的课堂状态机：每轮对话读计划</a:t>
            </a:r>
            <a:r>
              <a:rPr lang="en-US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算耗时</a:t>
            </a:r>
            <a:r>
              <a:rPr lang="en-US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判证据</a:t>
            </a:r>
            <a:r>
              <a:rPr lang="en-US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决定换不换幕。</a:t>
            </a:r>
            <a:r>
              <a:rPr lang="en-US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orchestrator/agent.py </a:t>
            </a: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已实现并可运行。</a:t>
            </a:r>
            <a:endParaRPr lang="zh-CN" sz="142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14400" y="4743450"/>
            <a:ext cx="609600" cy="5715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LangGraph 图：11 个节点，一条环&lt;/Text&gt;&#10;      &lt;Text style={{ fontSize: 15, color: '#64748B', marginTop: 6 }}&gt;自动推进的本质 = 图里有一个环：学生每说一句话就走一圈，judge_advance 每轮重新判一次&lt;/Text&gt;&#10;    &lt;/Box&gt;&#10;  &lt;/Box&gt;&#10;  &lt;Box style={{ position: 'absolute', top: 124, left: 64, right: 64, bottom: 52 }}&gt;&#10;    &lt;svg width={1152} height={508} viewBox=&quot;0 0 1152 508&quot;&gt;&#10;      &lt;defs&gt;&#10;        &lt;marker id=&quot;a2&quot; markerWidth=&quot;9&quot; markerHeight=&quot;9&quot; refX=&quot;7&quot; refY=&quot;3&quot; orient=&quot;auto&quot; markerUnits=&quot;strokeWidth&quot;&gt;&lt;path d=&quot;M0,0 L0,6 L8,3 z&quot; fill=&quot;#1B4F9C&quot; /&gt;&lt;/marker&gt;&#10;        &lt;marker id=&quot;a3&quot; markerWidth=&quot;9&quot; markerHeight=&quot;9&quot; refX=&quot;7&quot; refY=&quot;3&quot; orient=&quot;auto&quot; markerUnits=&quot;strokeWidth&quot;&gt;&lt;path d=&quot;M0,0 L0,6 L8,3 z&quot; fill=&quot;#F59E0B&quot; /&gt;&lt;/marker&gt;&#10;      &lt;/defs&gt;&#10;      &lt;g fontSize=&quot;14&quot; textAnchor=&quot;middle&quot;&gt;&#10;        &lt;rect x={20} y={24} width={120} height={52} rx={10} fill=&quot;#64748B&quot; /&gt;&#10;        &lt;text x={80} y={56} fill=&quot;#FFFFFF&quot; fontWeight=&quot;bold&quot;&gt;START&lt;/text&gt;&#10;        &lt;rect x={180} y={24} width={140} height={52} rx={10} fill=&quot;#1B4F9C&quot; /&gt;&#10;        &lt;text x={250} y={48} fill=&quot;#FFFFFF&quot; fontWeight=&quot;bold&quot;&gt;load_plan&lt;/text&gt;&#10;        &lt;text x={250} y={66} fill=&quot;#BFD4F2&quot; fontSize={11.5}&gt;读计划+8项校验&lt;/text&gt;&#10;        &lt;rect x={360} y={24} width={120} height={52} rx={10} fill=&quot;#1B4F9C&quot; /&gt;&#10;        &lt;text x={420} y={48} fill=&quot;#FFFFFF&quot; fontWeight=&quot;bold&quot;&gt;tick&lt;/text&gt;&#10;        &lt;text x={420} y={66} fill=&quot;#BFD4F2&quot; fontSize={11.5}&gt;真实时钟+复位&lt;/text&gt;&#10;        &lt;rect x={520} y={24} width={150} height={52} rx={10} fill=&quot;#1B4F9C&quot; /&gt;&#10;        &lt;text x={595} y={48} fill=&quot;#FFFFFF&quot; fontWeight=&quot;bold&quot;&gt;load_context&lt;/text&gt;&#10;        &lt;text x={595} y={66} fill=&quot;#BFD4F2&quot; fontSize={11.5}&gt;按幕分层装配&lt;/text&gt;&#10;        &lt;rect x={710} y={24} width={150} height={52} rx={10} fill=&quot;#1B4F9C&quot; /&gt;&#10;        &lt;text x={785} y={48} fill=&quot;#FFFFFF&quot; fontWeight=&quot;bold&quot;&gt;classify_turn&lt;/text&gt;&#10;        &lt;text x={785} y={66} fill=&quot;#BFD4F2&quot; fontSize={11.5}&gt;谁在说话&lt;/text&gt;&#10;        &lt;rect x={900} y={24} width={130} height={52} rx={10} fill=&quot;#3D7BE0&quot; /&gt;&#10;        &lt;text x={965} y={48} fill=&quot;#FFFFFF&quot; fontWeight=&quot;bold&quot;&gt;host_event&lt;/text&gt;&#10;        &lt;text x={965} y={66} fill=&quot;#D6E4F8&quot; fontSize={11.5}&gt;开场/收尾&lt;/text&gt;&#10;        &lt;path d=&quot;M140 50 L180 50&quot; stroke=&quot;#1B4F9C&quot; strokeWidth={2.5} markerEnd=&quot;url(#a2)&quot; /&gt;&#10;        &lt;path d=&quot;M320 50 L360 50&quot; stroke=&quot;#1B4F9C&quot; strokeWidth={2.5} markerEnd=&quot;url(#a2)&quot; /&gt;&#10;        &lt;path d=&quot;M480 50 L520 50&quot; stroke=&quot;#1B4F9C&quot; strokeWidth={2.5} markerEnd=&quot;url(#a2)&quot; /&gt;&#10;        &lt;path d=&quot;M670 50 L710 50&quot; stroke=&quot;#1B4F9C&quot; strokeWidth={2.5} markerEnd=&quot;url(#a2)&quot; /&gt;&#10;        &lt;path d=&quot;M860 50 L900 50&quot; stroke=&quot;#1B4F9C&quot; strokeWidth={2.5} markerEnd=&quot;url(#a2)&quot; /&gt;&#10;        &lt;path d=&quot;M785 76 L785 128 L250 128 L250 152&quot; stroke=&quot;#1B4F9C&quot; strokeWidth={2.5} fill=&quot;none&quot; markerEnd=&quot;url(#a2)&quot; /&gt;&#10;        &lt;text x={520} y={120} fontSize={12.5} fill=&quot;#64748B&quot;&gt;学生轮 ↓ 走教学主线&lt;/text&gt;&#10;        &lt;rect x={180} y={152} width={140} height={52} rx={10} fill=&quot;#1B4F9C&quot; /&gt;&#10;        &lt;text x={250} y={176} fill=&quot;#FFFFFF&quot; fontWeight=&quot;bold&quot;&gt;teach&lt;/text&gt;&#10;        &lt;text x={250} y={194} fill=&quot;#BFD4F2&quot; fontSize={11.5}&gt;两层：骨架+LLM润色&lt;/text&gt;&#10;        &lt;rect x={370} y={152} width={160} height={52} rx={10} fill=&quot;#1B4F9C&quot; /&gt;&#10;        &lt;text x={450} y={176} fill=&quot;#FFFFFF&quot; fontWeight=&quot;bold&quot;&gt;judge_mastery&lt;/text&gt;&#10;        &lt;text x={450} y={194} fill=&quot;#BFD4F2&quot; fontSize={11.5}&gt;按 rubric 判星级&lt;/text&gt;&#10;        &lt;rect x={580} y={152} width={170} height={52} rx={10} fill=&quot;#F59E0B&quot; /&gt;&#10;        &lt;text x={665} y={176} fill=&quot;#FFFFFF&quot; fontWeight=&quot;bold&quot;&gt;judge_advance ★&lt;/text&gt;&#10;        &lt;text x={665} y={194} fill=&quot;#FFF3DC&quot; fontSize={11.5}&gt;切幕判定（编排核心）&lt;/text&gt;&#10;        &lt;path d=&quot;M320 178 L370 178&quot; stroke=&quot;#1B4F9C&quot; strokeWidth={2.5} markerEnd=&quot;url(#a2)&quot; /&gt;&#10;        &lt;path d=&quot;M530 178 L580 178&quot; stroke=&quot;#1B4F9C&quot; strokeWidth={2.5} markerEnd=&quot;url(#a2)&quot; /&gt;&#10;        &lt;path d=&quot;M965 76 L965 240 L750 240 L750 192&quot; stroke=&quot;#3D7BE0&quot; strokeWidth={2} fill=&quot;none&quot; markerEnd=&quot;url(#a2)&quot; strokeDasharray=&quot;6 5&quot; /&gt;&#10;        &lt;rect x={830} y={296} width={160} height={52} rx={10} fill=&quot;#1B4F9C&quot; /&gt;&#10;        &lt;text x={910} y={320} fill=&quot;#FFFFFF&quot; fontWeight=&quot;bold&quot;&gt;advance_stage&lt;/text&gt;&#10;        &lt;text x={910} y={338} fill=&quot;#BFD4F2&quot; fontSize={11.5}&gt;快照+切到下一幕&lt;/text&gt;&#10;        &lt;rect x={580} y={296} width={150} height={52} rx={10} fill=&quot;#1B4F9C&quot; /&gt;&#10;        &lt;text x={655} y={320} fill=&quot;#FFFFFF&quot; fontWeight=&quot;bold&quot;&gt;write_state&lt;/text&gt;&#10;        &lt;text x={655} y={338} fill=&quot;#BFD4F2&quot; fontSize={11.5}&gt;落盘 runtime/**&lt;/text&gt;&#10;        &lt;rect x={370} y={296} width={160} height={52} rx={10} fill=&quot;#1B4F9C&quot; /&gt;&#10;        &lt;text x={450} y={320} fill=&quot;#FFFFFF&quot; fontWeight=&quot;bold&quot;&gt;format_reply&lt;/text&gt;&#10;        &lt;text x={450} y={338} fill=&quot;#BFD4F2&quot; fontSize={11.5}&gt;组装回复+播报&lt;/text&gt;&#10;        &lt;rect x={180} y={296} width={120} height={52} rx={10} fill=&quot;#64748B&quot; /&gt;&#10;        &lt;text x={240} y={328} fill=&quot;#FFFFFF&quot; fontWeight=&quot;bold&quot;&gt;END&lt;/text&gt;&#10;        &lt;path d=&quot;M700 204 L880 204 L880 296&quot; stroke=&quot;#F59E0B&quot; strokeWidth={3} fill=&quot;none&quot; markerEnd=&quot;url(#a3)&quot; /&gt;&#10;        &lt;text x={795} y={196} fontSize={13} fill=&quot;#F59E0B&quot; fontWeight=&quot;bold&quot;&gt;换幕&lt;/text&gt;&#10;        &lt;path d=&quot;M630 204 L630 296&quot; stroke=&quot;#1B4F9C&quot; strokeWidth={2.5} fill=&quot;none&quot; markerEnd=&quot;url(#a2)&quot; /&gt;&#10;        &lt;text x={606} y={254} fontSize={13} fill=&quot;#64748B&quot;&gt;留幕&lt;/text&gt;&#10;        &lt;path d=&quot;M830 322 L730 322&quot; stroke=&quot;#1B4F9C&quot; strokeWidth={2.5} markerEnd=&quot;url(#a2)&quot; /&gt;&#10;        &lt;path d=&quot;M580 322 L530 322&quot; stroke=&quot;#1B4F9C&quot; strokeWidth={2.5} markerEnd=&quot;url(#a2)&quot; /&gt;&#10;        &lt;path d=&quot;M370 322 L300 322&quot; stroke=&quot;#1B4F9C&quot; strokeWidth={2.5} markerEnd=&quot;url(#a2)&quot; /&gt;&#10;        &lt;rect x={830} y={384} width={300} height={104} rx={10} fill=&quot;#E8F0FB&quot; /&gt;&#10;        &lt;text x={850} y={412} fontSize={13.5} fill=&quot;#0F2E5C&quot; fontWeight=&quot;bold&quot; textAnchor=&quot;start&quot;&gt;「环」在哪？&lt;/text&gt;&#10;        &lt;text x={850} y={436} fontSize={12.5} fill=&quot;#334155&quot; textAnchor=&quot;start&quot;&gt;学生说下一句 → 同一 thread_id&lt;/text&gt;&#10;        &lt;text x={850} y={456} fontSize={12.5} fill=&quot;#334155&quot; textAnchor=&quot;start&quot;&gt;再进图，所有判定用 checkpoint&lt;/text&gt;&#10;        &lt;text x={850} y={476} fontSize={12.5} fill=&quot;#334155&quot; textAnchor=&quot;start&quot;&gt;里的最新状态重跑一遍&lt;/text&gt;&#10;        &lt;rect x={20} y={384} width={760} height={104} rx={10} fill=&quot;#FFFFFF&quot; stroke=&quot;#D7E4F6&quot; /&gt;&#10;        &lt;text x={40} y={412} fontSize={13.5} fill=&quot;#0F2E5C&quot; fontWeight=&quot;bold&quot; textAnchor=&quot;start&quot;&gt;两个关键约定&lt;/text&gt;&#10;        &lt;text x={40} y={438} fontSize={12.5} fill=&quot;#334155&quot; textAnchor=&quot;start&quot;&gt;① 判断写进 state、路由只读不判（route_after_judge 只看 target_phase）&lt;/text&gt;&#10;        &lt;text x={40} y={462} fontSize={12.5} fill=&quot;#334155&quot; textAnchor=&quot;start&quot;&gt;② now 由会话层注入，节点一律不许自己读钟 → 图是纯函数，&lt;/text&gt;&#10;        &lt;text x={40} y={482} fontSize={12.5} fill=&quot;#334155&quot; textAnchor=&quot;start&quot;&gt;　 喂一串时间戳即可重放整节课（可单测、可回放）&lt;/text&gt;&#10;      &lt;/g&gt;&#10;    &lt;/svg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11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0" name="圆角矩形 19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838200" y="342900"/>
            <a:ext cx="59721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LangGraph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图：</a:t>
            </a: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11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个节点，一条环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838200" y="790575"/>
            <a:ext cx="59721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自动推进的本质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图里有一个环：学生每说一句话就走一圈，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judge_advance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每轮重新判一次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181100"/>
            <a:ext cx="10972800" cy="4838700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11 个节点：各自读什么文件、写什么&lt;/Text&gt;&#10;      &lt;Text style={{ fontSize: 15, color: '#64748B', marginTop: 6 }}&gt;全部已在 orchestrator/agent.py 实现；judge_mastery 始终确定性（证据组关键词匹配），不依赖模型&lt;/Text&gt;&#10;    &lt;/Box&gt;&#10;  &lt;/Box&gt;&#10;  &lt;Box style={{ position: 'absolute', top: 128, left: 64, right: 64, bottom: 56 }}&gt;&#10;    &lt;Table&#10;      style={{ width: '100%', height: '100%' }}&#10;      defaultTextStyle={{ fontSize: 12.5, textAlign: 'left', color: '#0F2E5C' }}&#10;      defaultCellStyle={{ border: { bottom: { width: 1, color: '#D7E4F6' } }, padding: 5 }}&#10;      cells={[&#10;        [&#10;          { text: '节点', textStyle: { bold: true, color: '#FFFFFF' }, cellStyle: { background: { color: '#1B4F9C' } } },&#10;          { text: '职责', textStyle: { bold: true, color: '#FFFFFF' }, cellStyle: { background: { color: '#1B4F9C' } } },&#10;          { text: '读什么（文件）', textStyle: { bold: true, color: '#FFFFFF' }, cellStyle: { background: { color: '#1B4F9C' } } },&#10;          { text: '写什么', textStyle: { bold: true, color: '#FFFFFF' }, cellStyle: { background: { color: '#1B4F9C' } } },&#10;        ],&#10;        [&#10;          { text: 'load_plan', textStyle: { bold: true, color: '#1B4F9C' } },&#10;          '载入并校验课程计划',&#10;          'lesson-data/lesson-plan.json',&#10;          'remaining_stages、时长预算',&#10;        ],&#10;        [&#10;          { text: 'tick', textStyle: { bold: true, color: '#1B4F9C' }, cellStyle: { background: { color: '#E8F0FB' } } },&#10;          { text: '真实时钟结算 + 每轮复位', cellStyle: { background: { color: '#E8F0FB' } } },&#10;          { text: 'state.now（会话层注入）', cellStyle: { background: { color: '#E8F0FB' } } },&#10;          { text: '本幕/本课已花分钟；清上轮判决', cellStyle: { background: { color: '#E8F0FB' } } },&#10;        ],&#10;        [&#10;          { text: 'load_context', textStyle: { bold: true, color: '#1B4F9C' } },&#10;          '按 host_phase 分层装配',&#10;          '六层文件（详见 P17）',&#10;          '组装 prompt（不改 state）',&#10;        ],&#10;        [&#10;          { text: 'classify_turn', textStyle: { bold: true, color: '#1B4F9C' }, cellStyle: { background: { color: '#E8F0FB' } } },&#10;          { text: '判断本轮输入类型', cellStyle: { background: { color: '#E8F0FB' } } },&#10;          { text: '学生消息 + host_phase', cellStyle: { background: { color: '#E8F0FB' } } },&#10;          { text: 'speaker、路由标记', cellStyle: { background: { color: '#E8F0FB' } } },&#10;        ],&#10;        [&#10;          { text: 'host_event', textStyle: { bold: true, color: '#1B4F9C' } },&#10;          '处理开场 / 收尾事件',&#10;          '主持人指令',&#10;          '目标 host_phase',&#10;        ],&#10;        [&#10;          { text: 'teach', textStyle: { bold: true, color: '#B87700' }, cellStyle: { background: { color: '#E8F0FB' } } },&#10;          { text: '两层教学：骨架定内容、LLM 润色', cellStyle: { background: { color: '#E8F0FB' } } },&#10;          { text: 'stages/&lt;id&gt;/prompt.md · questions.md · KNOWLEDGE-BASE.md', cellStyle: { background: { color: '#E8F0FB' } } },&#10;          { text: 'reply_text、turn_evidence、current_question', cellStyle: { background: { color: '#E8F0FB' } } },&#10;        ],&#10;        [&#10;          { text: 'judge_mastery', textStyle: { bold: true, color: '#1B4F9C' } },&#10;          '按 rubric 判星级（确定性）',&#10;          'stages/&lt;id&gt;/rubric.md · MASTERY-STAR-RULES.md',&#10;          'mastery_updates',&#10;        ],&#10;        [&#10;          { text: 'judge_advance ★', textStyle: { bold: true, color: '#B87700' }, cellStyle: { background: { color: '#E8F0FB' } } },&#10;          { text: '判定是否切幕（编排核心）', cellStyle: { background: { color: '#E8F0FB' } } },&#10;          { text: 'state 全部进度字段', cellStyle: { background: { color: '#E8F0FB' } } },&#10;          { text: 'target_phase、advance_reason', cellStyle: { background: { color: '#E8F0FB' } } },&#10;        ],&#10;        [&#10;          { text: 'advance_stage', textStyle: { bold: true, color: '#1B4F9C' } },&#10;          '写阶段快照 + 切到下一幕',&#10;          'remaining_stages',&#10;          'stage_snapshots、新 host_phase、重置计时',&#10;        ],&#10;        [&#10;          { text: 'write_state', textStyle: { bold: true, color: '#1B4F9C' }, cellStyle: { background: { color: '#E8F0FB' } } },&#10;          { text: '落盘所有状态（追加不覆盖）', cellStyle: { background: { color: '#E8F0FB' } } },&#10;          { text: 'state', cellStyle: { background: { color: '#E8F0FB' } } },&#10;          { text: 'runtime/DIALOGUE-LOG.md · data/*.json', cellStyle: { background: { color: '#E8F0FB' } } },&#10;        ],&#10;        [&#10;          { text: 'format_reply', textStyle: { bold: true, color: '#1B4F9C' } },&#10;          '组装回复与播报标记',&#10;          'state',&#10;          'reply_text、speech_kind',&#10;        ],&#10;      ]}&#10;    /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12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9" name="圆角矩形 28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838200" y="342900"/>
            <a:ext cx="66198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11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个节点：各自读什么文件、写什么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838200" y="790575"/>
            <a:ext cx="6619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全部已在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orchestrator/agent.py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实现；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judge_mastery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始终确定性（证据组关键词匹配），不依赖模型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2" name="表格 31"/>
          <p:cNvGraphicFramePr/>
          <p:nvPr/>
        </p:nvGraphicFramePr>
        <p:xfrm>
          <a:off x="609600" y="1219200"/>
          <a:ext cx="10972801" cy="5105400"/>
        </p:xfrm>
        <a:graphic>
          <a:graphicData uri="http://schemas.openxmlformats.org/drawingml/2006/table">
            <a:tbl>
              <a:tblPr/>
              <a:tblGrid>
                <a:gridCol w="1289227"/>
                <a:gridCol w="2229057"/>
                <a:gridCol w="4385140"/>
                <a:gridCol w="3069377"/>
              </a:tblGrid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节点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职责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读什么（文件）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写什么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load_plan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载入并校验课程计划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lesson-data/lesson-plan.json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remaining_stages、时长预算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tick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真实时钟结算 + 每轮复位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state.now（会话层注入）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本幕/本课已花分钟；清上轮判决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load_context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 host_phase 分层装配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六层文件（详见 P17）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组装 prompt（不改 state）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classify_turn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判断本轮输入类型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学生消息 + host_phase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speaker、路由标记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host_event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处理开场 / 收尾事件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主持人指令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 host_phase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teach</a:t>
                      </a:r>
                      <a:endParaRPr sz="940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两层教学：骨架定内容、LLM 润色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stages/&lt;id&gt;/prompt.md · questions.md · KNOWLEDGE-BASE.md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reply_text、turn_evidence、current_question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judge_mastery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 rubric 判星级（确定性）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stages/&lt;id&gt;/rubric.md · MASTERY-STAR-RULES.md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mastery_updates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judge_advance ★</a:t>
                      </a:r>
                      <a:endParaRPr sz="940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判定是否切幕（编排核心）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state 全部进度字段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target_phase、advance_reason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advance_stage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写阶段快照 + 切到下一幕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remaining_stages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stage_snapshots、新 host_phase、重置计时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write_state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落盘所有状态（追加不覆盖）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state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runtime/DIALOGUE-LOG.md · data/*.json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format_reply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组装回复与播报标记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state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reply_text、speech_kind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3" name="圆角矩形 32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12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teach 两层铁律：模型只管措辞，不管编排&lt;/Text&gt;&#10;      &lt;Text style={{ fontSize: 15, color: '#64748B', marginTop: 6 }}&gt;实测踩出来的架构铁律 —— 最初「有 LLM 就调模型」导致段落不推进、编排被架空&lt;/Text&gt;&#10;    &lt;/Box&gt;&#10;  &lt;/Box&gt;&#10;  &lt;Box style={{ position: 'absolute', top: 126, left: 64, right: 64, bottom: 56, gap: 16 }}&gt;&#10;    &lt;svg width={1152} height={176} viewBox=&quot;0 0 1152 176&quot;&gt;&#10;      &lt;defs&gt;&lt;marker id=&quot;a4&quot; markerWidth=&quot;9&quot; markerHeight=&quot;9&quot; refX=&quot;7&quot; refY=&quot;3&quot; orient=&quot;auto&quot; markerUnits=&quot;strokeWidth&quot;&gt;&lt;path d=&quot;M0,0 L0,6 L8,3 z&quot; fill=&quot;#1B4F9C&quot; /&gt;&lt;/marker&gt;&lt;/defs&gt;&#10;      &lt;rect x={20} y={14} width={500} height={148} rx={12} fill=&quot;#1B4F9C&quot; /&gt;&#10;      &lt;text x={44} y={50} fontSize={18} fill=&quot;#FFFFFF&quot; fontWeight=&quot;bold&quot;&gt;第一层 · 确定性骨架（永远执行）&lt;/text&gt;&#10;      &lt;text x={44} y={82} fontSize={14} fill=&quot;#D6E4F8&quot;&gt;决定「本轮干什么」：讲哪一段 / 问哪一题 / 给什么反馈&lt;/text&gt;&#10;      &lt;text x={44} y={108} fontSize={14} fill=&quot;#D6E4F8&quot;&gt;产出 directive（给模型的指令，带内容锚点）&lt;/text&gt;&#10;      &lt;text x={44} y={136} fontSize={13} fill=&quot;#9FB9E0&quot;&gt;模型挂了 → 直接用骨架朴素文案，编排状态一字不差&lt;/text&gt;&#10;      &lt;path d=&quot;M520 88 L580 88&quot; stroke=&quot;#1B4F9C&quot; strokeWidth={3} markerEnd=&quot;url(#a4)&quot; /&gt;&#10;      &lt;rect x={580} y={14} width={500} height={148} rx={12} fill=&quot;#E8F0FB&quot; stroke=&quot;#3D7BE0&quot; strokeWidth={2} /&gt;&#10;      &lt;text x={604} y={50} fontSize={18} fill=&quot;#0F2E5C&quot; fontWeight=&quot;bold&quot;&gt;第二层 · LLM 润色（可选）&lt;/text&gt;&#10;      &lt;text x={604} y={82} fontSize={14} fill=&quot;#334155&quot;&gt;只决定「这话怎么说」：把 directive 变成自然语言&lt;/text&gt;&#10;      &lt;text x={604} y={108} fontSize={14} fill=&quot;#334155&quot;&gt;接任意 OpenAI 兼容端点（AGENT_LLM_* 环境变量）&lt;/text&gt;&#10;      &lt;text x={604} y={136} fontSize={13.5} fill=&quot;#B87700&quot; fontWeight=&quot;bold&quot;&gt;铁律：模型不决定讲什么、问什么，只决定怎么措辞&lt;/text&gt;&#10;    &lt;/svg&gt;&#10;    &lt;Box style={{ flex: 1, flexDirection: 'row', gap: 20 }}&gt;&#10;      &lt;Box style={{ flex: 1.35 }}&gt;&#10;        &lt;Table&#10;          style={{ width: '100%', height: '100%' }}&#10;          defaultTextStyle={{ fontSize: 13, textAlign: 'left', color: '#0F2E5C' }}&#10;          defaultCellStyle={{ border: { bottom: { width: 1, color: '#D7E4F6' } }, padding: 7 }}&#10;          cells={[&#10;            [&#10;              { text: '三条约束（每条都是踩坑踩出来的）', textStyle: { bold: true, color: '#FFFFFF' }, cellStyle: { background: { color: '#1B4F9C' } } },&#10;              { text: '原因', textStyle: { bold: true, color: '#FFFFFF' }, cellStyle: { background: { color: '#1B4F9C' } } },&#10;            ],&#10;            [&#10;              { text: 'directive 必须带内容锚点', textStyle: { bold: true, color: '#1B4F9C' } },&#10;              '只写「往深讲一层」→ 模型编出本课没有的「马尔可夫性质」（幻觉）',&#10;            ],&#10;            [&#10;              { text: '给模型的文案不能含 KP 编号', textStyle: { bold: true, color: '#1B4F9C' }, cellStyle: { background: { color: '#E8F0FB' } } },&#10;              { text: '模型会照着念「KP-004」→ 用 kp_title() 转中文标题', cellStyle: { background: { color: '#E8F0FB' } } },&#10;            ],&#10;            [&#10;              { text: '收尾轮 directive 显式禁止新内容', textStyle: { bold: true, color: '#1B4F9C' } },&#10;              '否则模型在「总结一下」里继续往外扩',&#10;            ],&#10;          ]}&#10;        /&gt;&#10;      &lt;/Box&gt;&#10;      &lt;Box style={{ flex: 1, background: '#E8F0FB', borderRadius: 12, padding: '18px 24px', justifyContent: 'center', gap: 10 }}&gt;&#10;        &lt;Text style={{ fontSize: 44, fontWeight: 'bold', color: '#F59E0B', lineHeight: 1 }}&gt;51 / 51&lt;/Text&gt;&#10;        &lt;Text style={{ fontSize: 14.5, color: '#0F2E5C', lineHeight: 1.65 }}&gt;有 / 无 LLM 跑同一串时间戳，剔除回复文本后，&lt;span style={{ fontWeight: 'bold' }}&gt;编排结果逐行相同&lt;/span&gt; —— 切幕、星级、推进不受模型影响，已被验证。&lt;/Text&gt;&#10;      &lt;/Box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13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8" name="圆角矩形 37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838200" y="342900"/>
            <a:ext cx="61626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teach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两层铁律：模型只管措辞，不管编排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838200" y="790575"/>
            <a:ext cx="61626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实测踩出来的架构铁律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最初「有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LLM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就调模型」导致段落不推进、编排被架空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1676400"/>
          </a:xfrm>
          <a:prstGeom prst="rect">
            <a:avLst/>
          </a:prstGeom>
        </p:spPr>
      </p:pic>
      <p:graphicFrame>
        <p:nvGraphicFramePr>
          <p:cNvPr id="42" name="表格 41"/>
          <p:cNvGraphicFramePr/>
          <p:nvPr/>
        </p:nvGraphicFramePr>
        <p:xfrm>
          <a:off x="609600" y="3028950"/>
          <a:ext cx="6191250" cy="3295652"/>
        </p:xfrm>
        <a:graphic>
          <a:graphicData uri="http://schemas.openxmlformats.org/drawingml/2006/table">
            <a:tbl>
              <a:tblPr/>
              <a:tblGrid>
                <a:gridCol w="2124276"/>
                <a:gridCol w="4066974"/>
              </a:tblGrid>
              <a:tr h="82391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三条约束（每条都是踩坑踩出来的）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原因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82391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directive 必须带内容锚点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只写「往深讲一层」→ 模型编出本课没有的「马尔可夫性质」（幻觉）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391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给模型的文案不能含 KP 编号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模型会照着念「KP-004」→ 用 kp_title() 转中文标题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82391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收尾轮 directive 显式禁止新内容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否则模型在「总结一下」里继续往外扩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3" name="圆角矩形 42"/>
          <p:cNvSpPr/>
          <p:nvPr/>
        </p:nvSpPr>
        <p:spPr>
          <a:xfrm>
            <a:off x="6991350" y="3028950"/>
            <a:ext cx="4591050" cy="3295650"/>
          </a:xfrm>
          <a:prstGeom prst="roundRect">
            <a:avLst>
              <a:gd name="adj" fmla="val 3468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7219950" y="4105275"/>
            <a:ext cx="41338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51 / 51</a:t>
            </a:r>
            <a:endParaRPr lang="en-US" sz="33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7219950" y="4705350"/>
            <a:ext cx="41338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有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LLM 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跑同一串时间戳，剔除回复文本后，</a:t>
            </a:r>
            <a:r>
              <a:rPr lang="zh-CN" sz="109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编排结果逐行相同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切幕、星级、推进不受模型影响，已被验证。</a:t>
            </a:r>
            <a:endParaRPr lang="zh-CN" sz="1090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13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真实时钟 tick 与切幕判定 judge_advance&lt;/Text&gt;&#10;      &lt;Text style={{ fontSize: 15, color: '#64748B', marginTop: 6 }}&gt;时钟只算已花时长 —— 编排器绝不判断学生是否缺席，那是在场性归老师管&lt;/Text&gt;&#10;    &lt;/Box&gt;&#10;  &lt;/Box&gt;&#10;  &lt;Box style={{ position: 'absolute', top: 128, left: 64, right: 64, bottom: 56, flexDirection: 'row', gap: 26 }}&gt;&#10;    &lt;Box style={{ width: '44%', gap: 14 }}&gt;&#10;      &lt;Text style={{ fontSize: 17, fontWeight: 'bold', color: '#0F2E5C' }}&gt;tick：全图唯一读时间的地方&lt;/Text&gt;&#10;      &lt;CodeBlock&#10;        language='python'&#10;        theme='github-light'&#10;        fontSize={12.5}&#10;        width={490}&#10;        code={`def tick(state):&#10;    now = fromisoformat(state[&quot;now&quot;])  # 外部注入&#10;    return {&#10;      # 本幕已花 = now - 本幕开始&#10;      &quot;stage_elapsed_minutes&quot;: ...,&#10;      # 本课已花 = now - 开课时刻&#10;      &quot;lesson_elapsed_minutes&quot;: ...,&#10;    }`}&#10;      /&gt;&#10;      &lt;Box style={{ background: '#E8F0FB', borderRadius: 10, padding: '13px 16px', marginTop: 'auto' }}&gt;&#10;        &lt;Text style={{ fontSize: 13.5, color: '#0F2E5C', lineHeight: 1.6 }}&gt;时间做成&lt;span style={{ fontWeight: 'bold' }}&gt;输入&lt;/span&gt;而非节点自取 → 图是纯函数：&lt;span style={{ fontWeight: 'bold', color: '#1B4F9C' }}&gt;可单测、可回放&lt;/span&gt;。tick 同时是每轮复位点，清掉上轮证据与判决，防止跨轮渗漏。&lt;/Text&gt;&#10;      &lt;/Box&gt;&#10;    &lt;/Box&gt;&#10;    &lt;Box style={{ flex: 1, gap: 10 }}&gt;&#10;      &lt;Text style={{ fontSize: 17, fontWeight: 'bold', color: '#0F2E5C' }}&gt;judge_advance：短路判定，命中即停（每轮执行）&lt;/Text&gt;&#10;      {[&#10;        ['1', '本幕演够 min_stage_minutes（2 分钟）了吗？没够 → 留幕（防秒切）', false],&#10;        ['2', '「学透才走」模式且还有目标没关闭？→ 留幕（证据优先于时间）', true],&#10;        ['3', '证据齐了、目标全关闭？→ 切幕（学得快就提前走）', false],&#10;        ['4', '到时间预算了？看策略：立即切 / 收尾后切 / 允许延长 ≤3 分钟', true],&#10;        ['5', '以上都没命中 → 留幕，等下一轮再判。判决理由写 advance_reason 落盘，老师可复盘「为什么在 22 分钟切了」', false],&#10;      ].map((s, i) =&gt; (&#10;        &lt;Box key={i} style={{ flexDirection: 'row', gap: 14, alignItems: 'flex-start', background: s[2] ? '#FFFFFF' : '#E8F0FB', border: s[2] ? '1px solid #D7E4F6' : 'none', borderRadius: 10, padding: '11px 16px', flex: 1 }}&gt;&#10;          &lt;Text style={{ fontSize: 22, fontWeight: 'bold', color: '#1B4F9C', width: 28 }}&gt;{s[0]}&lt;/Text&gt;&#10;          &lt;Text style={{ fontSize: 13.5, color: '#0F2E5C', lineHeight: 1.55, flex: 1 }}&gt;{s[1]}&lt;/Text&gt;&#10;        &lt;/Box&gt;&#10;      ))}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1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1" name="圆角矩形 50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38200" y="342900"/>
            <a:ext cx="62103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真实时钟</a:t>
            </a: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tick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与切幕判定</a:t>
            </a: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judge_advance</a:t>
            </a:r>
            <a:endParaRPr lang="en-US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838200" y="790575"/>
            <a:ext cx="6210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时钟只算已花时长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编排器绝不判断学生是否缺席，那是在场性归老师管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609600" y="1219200"/>
            <a:ext cx="4829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tick</a:t>
            </a:r>
            <a:r>
              <a:rPr lang="zh-CN" sz="1275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：全图唯一读时间的地方</a:t>
            </a:r>
            <a:endParaRPr lang="zh-CN" sz="1275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609600" y="5581650"/>
            <a:ext cx="4829175" cy="742950"/>
          </a:xfrm>
          <a:prstGeom prst="roundRect">
            <a:avLst>
              <a:gd name="adj" fmla="val 12821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762000" y="5705475"/>
            <a:ext cx="452437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时间做成</a:t>
            </a:r>
            <a:r>
              <a:rPr lang="zh-CN" sz="1015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输入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而非节点自取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图是纯函数：</a:t>
            </a:r>
            <a:r>
              <a:rPr lang="zh-CN" sz="101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可单测、可回放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tick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同时是每轮复位点，清掉上轮证据与判决，防止跨轮渗漏。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5686425" y="1219200"/>
            <a:ext cx="5895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judge_advance</a:t>
            </a:r>
            <a:r>
              <a:rPr lang="zh-CN" sz="1275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：短路判定，命中即停（每轮执行）</a:t>
            </a:r>
            <a:endParaRPr lang="zh-CN" sz="1275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圆角矩形 57"/>
          <p:cNvSpPr/>
          <p:nvPr>
            <p:custDataLst>
              <p:tags r:id="rId1"/>
            </p:custDataLst>
          </p:nvPr>
        </p:nvSpPr>
        <p:spPr>
          <a:xfrm>
            <a:off x="5686425" y="1514475"/>
            <a:ext cx="5895975" cy="838200"/>
          </a:xfrm>
          <a:prstGeom prst="roundRect">
            <a:avLst>
              <a:gd name="adj" fmla="val 11364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59" name="文本框 58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5838825" y="1619250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6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6238875" y="1619250"/>
            <a:ext cx="51911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本幕演够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min_stage_minutes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分钟）了吗？没够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留幕（防秒切）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圆角矩形 60"/>
          <p:cNvSpPr/>
          <p:nvPr>
            <p:custDataLst>
              <p:tags r:id="rId4"/>
            </p:custDataLst>
          </p:nvPr>
        </p:nvSpPr>
        <p:spPr>
          <a:xfrm>
            <a:off x="5686425" y="2447925"/>
            <a:ext cx="5895975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62" name="文本框 61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5838825" y="2552700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6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6238875" y="2552700"/>
            <a:ext cx="51911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「学透才走」模式且还有目标没关闭？→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留幕（证据优先于时间）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63"/>
          <p:cNvSpPr/>
          <p:nvPr>
            <p:custDataLst>
              <p:tags r:id="rId7"/>
            </p:custDataLst>
          </p:nvPr>
        </p:nvSpPr>
        <p:spPr>
          <a:xfrm>
            <a:off x="5686425" y="3381375"/>
            <a:ext cx="5895975" cy="847725"/>
          </a:xfrm>
          <a:prstGeom prst="roundRect">
            <a:avLst>
              <a:gd name="adj" fmla="val 11236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65" name="文本框 64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5838825" y="3486150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6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6238875" y="3486150"/>
            <a:ext cx="51911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证据齐了、目标全关闭？→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切幕（学得快就提前走）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圆角矩形 66"/>
          <p:cNvSpPr/>
          <p:nvPr>
            <p:custDataLst>
              <p:tags r:id="rId10"/>
            </p:custDataLst>
          </p:nvPr>
        </p:nvSpPr>
        <p:spPr>
          <a:xfrm>
            <a:off x="5686425" y="4324350"/>
            <a:ext cx="5895975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68" name="文本框 67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5838825" y="4429125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6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6238875" y="4429125"/>
            <a:ext cx="51911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到时间预算了？看策略：立即切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收尾后切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允许延长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≤3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>
            <p:custDataLst>
              <p:tags r:id="rId13"/>
            </p:custDataLst>
          </p:nvPr>
        </p:nvSpPr>
        <p:spPr>
          <a:xfrm>
            <a:off x="5686425" y="5257800"/>
            <a:ext cx="5895975" cy="1066800"/>
          </a:xfrm>
          <a:prstGeom prst="roundRect">
            <a:avLst>
              <a:gd name="adj" fmla="val 8929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5838825" y="5362575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6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6238875" y="5362575"/>
            <a:ext cx="51911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以上都没命中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留幕，等下一轮再判。判决理由写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advance_reason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落盘，老师可复盘「为什么在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22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分钟切了」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609600" y="1552575"/>
            <a:ext cx="4829175" cy="1866900"/>
          </a:xfrm>
          <a:prstGeom prst="roundRect">
            <a:avLst>
              <a:gd name="adj" fmla="val 4082"/>
            </a:avLst>
          </a:prstGeom>
          <a:solidFill>
            <a:srgbClr val="F6F8FA"/>
          </a:solidFill>
        </p:spPr>
        <p:txBody>
          <a:bodyPr/>
          <a:p/>
        </p:txBody>
      </p:sp>
      <p:sp>
        <p:nvSpPr>
          <p:cNvPr id="74" name="文本框 73"/>
          <p:cNvSpPr txBox="1"/>
          <p:nvPr/>
        </p:nvSpPr>
        <p:spPr>
          <a:xfrm>
            <a:off x="762000" y="1685925"/>
            <a:ext cx="4524375" cy="1600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40">
                <a:solidFill>
                  <a:srgbClr val="D73A49"/>
                </a:solidFill>
                <a:latin typeface="Menlo"/>
                <a:ea typeface="Menlo"/>
              </a:rPr>
              <a:t>def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tick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(state):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now </a:t>
            </a:r>
            <a:r>
              <a:rPr sz="94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fromisoformat(state[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"now"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])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外部注入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40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{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本幕已花 = now - 本幕开始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"stage_elapsed_minutes"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...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本课已花 = now - 开课时刻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"lesson_elapsed_minutes"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...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}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14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 descr="&lt;Slide style={{ width: '1280px', height: '720px', padding: 0, background: 'linear-gradient(135deg, #1B4F9C 0%, #0F2E5C 100%)' }}&gt;&#10;  &lt;Box style={{ padding: '110px 96px', gap: 8 }}&gt;&#10;    &lt;Text style={{ fontSize: 150, fontWeight: 'bold', color: 'rgba(255,255,255,0.18)', lineHeight: 1 }}&gt;04&lt;/Text&gt;&#10;    &lt;Text style={{ fontSize: 46, fontWeight: 'bold', color: '#FFFFFF', marginTop: 4 }}&gt;功能板块 · 文件地图&lt;/Text&gt;&#10;    &lt;Text style={{ fontSize: 19, color: '#BFD4F2', lineHeight: 1.7, marginTop: 18, maxWidth: 780 }}&gt;五个目录五种角色：规则、课程数据、阶段内容、运行时状态、编排器。每个文件放什么、谁写、谁读、何时读，一目了然。&lt;/Text&gt;&#10;    &lt;Box style={{ width: 64, height: 6, background: '#F59E0B', marginTop: 28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914400" y="1047750"/>
            <a:ext cx="10363200" cy="1714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1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1250" b="1">
              <a:solidFill>
                <a:srgbClr val="FFFFFF">
                  <a:alpha val="1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914400" y="2876550"/>
            <a:ext cx="103632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功能板块</a:t>
            </a:r>
            <a:r>
              <a:rPr lang="en-US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文件地图</a:t>
            </a:r>
            <a:endParaRPr lang="zh-CN" sz="3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914400" y="3657600"/>
            <a:ext cx="99536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五个目录五种角色：规则、课程数据、阶段内容、运行时状态、编排器。每个文件放什么、谁写、谁读、何时读，一目了然。</a:t>
            </a:r>
            <a:endParaRPr lang="zh-CN" sz="142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914400" y="4371975"/>
            <a:ext cx="609600" cy="5715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五大板块：每个文件归谁管&lt;/Text&gt;&#10;      &lt;Text style={{ fontSize: 15, color: '#64748B', marginTop: 6 }}&gt;仓库 = Markdown 规则 + JSON 配置 + 编排器代码，不含前端、不含 n8n&lt;/Text&gt;&#10;    &lt;/Box&gt;&#10;  &lt;/Box&gt;&#10;  &lt;Box style={{ position: 'absolute', top: 128, left: 64, right: 64, bottom: 56, flexDirection: 'row', gap: 24 }}&gt;&#10;    &lt;Box style={{ width: '36%', background: '#0F2E5C', borderRadius: 12, padding: '18px 22px' }}&gt;&#10;      &lt;Text style={{ fontSize: 12.5, color: '#D6E4F8', lineHeight: 1.8 }}&gt;&#10;        &lt;span style={{ color: '#FFFFFF', fontWeight: 'bold' }}&gt;主动引导智能体/&lt;/span&gt;&lt;br /&gt;&#10;        ├─ &lt;span style={{ color: '#F59E0B', fontWeight: 'bold' }}&gt;rules/&lt;/span&gt; 规则层&lt;br /&gt;&#10;        │  ├─ KNOWLEDGE-BASE.md&lt;br /&gt;&#10;        │  └─ interaction/ 星规则+模板&lt;br /&gt;&#10;        ├─ &lt;span style={{ color: '#F59E0B', fontWeight: 'bold' }}&gt;lesson-data/&lt;/span&gt; 课程数据层&lt;br /&gt;&#10;        │  ├─ lesson-plan.json ★编排入口&lt;br /&gt;&#10;        │  └─ segments/seg-*.json&lt;br /&gt;&#10;        ├─ &lt;span style={{ color: '#F59E0B', fontWeight: 'bold' }}&gt;stages/&lt;/span&gt; 阶段内容层&lt;br /&gt;&#10;        │  ├─ recap_discussion/ · deep_inquiry/&lt;br /&gt;&#10;        │  └─ class_discussion/（各三件文件）&lt;br /&gt;&#10;        ├─ &lt;span style={{ color: '#F59E0B', fontWeight: 'bold' }}&gt;runtime/&lt;/span&gt; 运行时状态&lt;br /&gt;&#10;        │  ├─ DIALOGUE-LOG.md ★会话控制&lt;br /&gt;&#10;        │  ├─ TMISSION · LESSON-CONTENT …&lt;br /&gt;&#10;        │  └─ data/mastery-*.json&lt;br /&gt;&#10;        └─ &lt;span style={{ color: '#F59E0B', fontWeight: 'bold' }}&gt;orchestrator/&lt;/span&gt; 编排器&lt;br /&gt;&#10;        　 ├─ ORCHESTRATOR.md 权威规范&lt;br /&gt;&#10;        　 ├─ agent.py ★真实实现&lt;br /&gt;&#10;        　 └─ run_demo · llm_probe · 回归测试&#10;      &lt;/Text&gt;&#10;    &lt;/Box&gt;&#10;    &lt;Box style={{ flex: 1, gap: 12 }}&gt;&#10;      &lt;Table&#10;        style={{ width: '100%', height: 360 }}&#10;        defaultTextStyle={{ fontSize: 12.5, textAlign: 'left', color: '#0F2E5C' }}&#10;        defaultCellStyle={{ border: { bottom: { width: 1, color: '#D7E4F6' } }, padding: 6 }}&#10;        cells={[&#10;          [&#10;            { text: '板块', textStyle: { bold: true, color: '#FFFFFF' }, cellStyle: { background: { color: '#1B4F9C' } } },&#10;            { text: '谁写', textStyle: { bold: true, color: '#FFFFFF' }, cellStyle: { background: { color: '#1B4F9C' } } },&#10;            { text: '谁读', textStyle: { bold: true, color: '#FFFFFF' }, cellStyle: { background: { color: '#1B4F9C' } } },&#10;            { text: '何时读 / 写', textStyle: { bold: true, color: '#FFFFFF' }, cellStyle: { background: { color: '#1B4F9C' } } },&#10;          ],&#10;          [&#10;            { text: 'rules/', textStyle: { bold: true, color: '#1B4F9C' } },&#10;            '老师（一学期维护一次）',&#10;            'load_context · judge_mastery',&#10;            '每轮装配；判星时取星规则',&#10;          ],&#10;          [&#10;            { text: 'lesson-data/', textStyle: { bold: true, color: '#1B4F9C' }, cellStyle: { background: { color: '#E8F0FB' } } },&#10;            { text: '老师（课前配置）', cellStyle: { background: { color: '#E8F0FB' } } },&#10;            { text: 'load_plan · teach', cellStyle: { background: { color: '#E8F0FB' } } },&#10;            { text: '开课校验读计划；讲解逐段读 segment', cellStyle: { background: { color: '#E8F0FB' } } },&#10;          ],&#10;          [&#10;            { text: 'stages/', textStyle: { bold: true, color: '#1B4F9C' } },&#10;            '老师 + 设计者（可空壳）',&#10;            'teach · judge_mastery',&#10;            '仅演到对应幕时加载该幕三件套',&#10;          ],&#10;          [&#10;            { text: 'runtime/', textStyle: { bold: true, color: '#1B4F9C' }, cellStyle: { background: { color: '#E8F0FB' } } },&#10;            { text: '编排器（每轮读写）', cellStyle: { background: { color: '#E8F0FB' } } },&#10;            { text: 'write_state 写 · load_context 读', cellStyle: { background: { color: '#E8F0FB' } } },&#10;            { text: 'DIALOGUE-LOG 每轮回写；mastery-* 判星/快照时更新', cellStyle: { background: { color: '#E8F0FB' } } },&#10;          ],&#10;          [&#10;            { text: 'orchestrator/', textStyle: { bold: true, color: '#1B4F9C' } },&#10;            '开发者',&#10;            '会话层调用 graph.invoke',&#10;            '每轮对话触发一次；checkpoint 按 session_id 续状态',&#10;          ],&#10;        ]}&#10;      /&gt;&#10;      &lt;Box style={{ background: '#E8F0FB', borderRadius: 10, padding: '13px 18px', marginTop: 'auto' }}&gt;&#10;        &lt;Text style={{ fontSize: 13.5, color: '#0F2E5C', lineHeight: 1.6 }}&gt;&#10;          &lt;span style={{ fontWeight: 'bold', color: '#1B4F9C' }}&gt;职责一句话：&lt;/span&gt;提示词负责「怎么教」（rules/ + stages/），数据负责「教什么、按什么顺序、多久教完」（lesson-data/），runtime/ 记「现在教到哪」，orchestrator/ 管「什么时候换下一幕」。&#10;        &lt;/Text&gt;&#10;      &lt;/Box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16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6" name="圆角矩形 85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838200" y="342900"/>
            <a:ext cx="47815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五大板块：每个文件归谁管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838200" y="790575"/>
            <a:ext cx="4781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仓库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= Markdown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规则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JSON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编排器代码，不含前端、不含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n8n</a:t>
            </a:r>
            <a:endParaRPr lang="en-US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609600" y="1219200"/>
            <a:ext cx="3952875" cy="5105400"/>
          </a:xfrm>
          <a:prstGeom prst="roundRect">
            <a:avLst>
              <a:gd name="adj" fmla="val 2892"/>
            </a:avLst>
          </a:prstGeom>
          <a:solidFill>
            <a:srgbClr val="0F2E5C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819150" y="1390650"/>
            <a:ext cx="3533775" cy="46291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80000"/>
              </a:lnSpc>
            </a:pPr>
            <a:r>
              <a:rPr lang="zh-CN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endParaRPr lang="en-US" sz="9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├─ </a:t>
            </a:r>
            <a:r>
              <a:rPr lang="en-US" sz="94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rules/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规则层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├─ KNOWLEDGE-BASE.md   </a:t>
            </a:r>
            <a:b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│  ├─ </a:t>
            </a:r>
            <a:r>
              <a:rPr lang="en-US" sz="935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TMISSION **</a:t>
            </a:r>
            <a:endParaRPr lang="en-US" sz="935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│  ├─ LESSON-CONTENT …**</a:t>
            </a:r>
            <a:endParaRPr lang="en-US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└─ interaction/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星规则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├─ </a:t>
            </a:r>
            <a:r>
              <a:rPr lang="en-US" sz="94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lesson-data/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课程数据层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├─ lesson-plan.json ★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编排入口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└─ segments/seg-*.json</a:t>
            </a:r>
            <a:endParaRPr lang="en-US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├─ </a:t>
            </a:r>
            <a:r>
              <a:rPr lang="en-US" sz="94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stages/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阶段内容层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├─ recap_discussion/ · deep_inquiry/</a:t>
            </a:r>
            <a:endParaRPr lang="en-US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└─ class_discussion/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（各三件文件）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├─ </a:t>
            </a:r>
            <a:r>
              <a:rPr lang="en-US" sz="94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runtime/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运行时状态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├─ DIALOGUE-LOG.md ★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会话控制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└─ data/mastery-*.json</a:t>
            </a:r>
            <a:endParaRPr lang="en-US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└─ </a:t>
            </a:r>
            <a:r>
              <a:rPr lang="en-US" sz="94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orchestrator/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编排器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├─ ORCHESTRATOR.md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权威规范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├─ agent.py ★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真实实现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└─ run_demo · llm_probe ·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回归测试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1" name="表格 90"/>
          <p:cNvGraphicFramePr/>
          <p:nvPr/>
        </p:nvGraphicFramePr>
        <p:xfrm>
          <a:off x="4791075" y="1219200"/>
          <a:ext cx="6791325" cy="3429000"/>
        </p:xfrm>
        <a:graphic>
          <a:graphicData uri="http://schemas.openxmlformats.org/drawingml/2006/table">
            <a:tbl>
              <a:tblPr/>
              <a:tblGrid>
                <a:gridCol w="830504"/>
                <a:gridCol w="1345133"/>
                <a:gridCol w="1717795"/>
                <a:gridCol w="2897892"/>
              </a:tblGrid>
              <a:tr h="3702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板块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谁写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谁读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何时读 / 写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61174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rules/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老师（一学期维护一次）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load_context · judge_mastery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每轮装配；判星时取星规则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174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lesson-data/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老师（课前配置）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load_plan · teach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开课校验读计划；讲解逐段读 segment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61174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stages/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老师 + 设计者（可空壳）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teach · judge_mastery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仅演到对应幕时加载该幕三件套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174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编排器（每轮读写）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write_state 写 · load_context 读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DIALOGUE-LOG 每轮回写；mastery-* 判星/快照时更新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61174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orchestrator/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开发者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会话层调用 graph.invoke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每轮对话触发一次；checkpoint 按 session_id 续状态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2" name="圆角矩形 91"/>
          <p:cNvSpPr/>
          <p:nvPr/>
        </p:nvSpPr>
        <p:spPr>
          <a:xfrm>
            <a:off x="4791075" y="5581650"/>
            <a:ext cx="6791325" cy="742950"/>
          </a:xfrm>
          <a:prstGeom prst="roundRect">
            <a:avLst>
              <a:gd name="adj" fmla="val 12821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4962525" y="5705475"/>
            <a:ext cx="64484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职责一句话：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提示词负责「怎么教」（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rules/ + stages/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），数据负责「教什么、按什么顺序、多久教完」（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lesson-data/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），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runtime/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记「现在教到哪」，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orchestrator/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管「什么时候换下一幕」。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16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上下文分层装配与数据落盘&lt;/Text&gt;&#10;      &lt;Text style={{ fontSize: 15, color: '#64748B', marginTop: 6 }}&gt;不把整门课塞进一轮上下文 —— 按 host_phase 取用，45 分钟的课上下文永远「刚好够用」&lt;/Text&gt;&#10;    &lt;/Box&gt;&#10;  &lt;/Box&gt;&#10;  &lt;Box style={{ position: 'absolute', top: 128, left: 64, right: 64, bottom: 56, gap: 14 }}&gt;&#10;    &lt;Table&#10;      style={{ width: '100%', height: 340 }}&#10;      defaultTextStyle={{ fontSize: 13, textAlign: 'left', color: '#0F2E5C' }}&#10;      defaultCellStyle={{ border: { bottom: { width: 1, color: '#D7E4F6' } }, padding: 7 }}&#10;      cells={[&#10;        [&#10;          { text: '层', textStyle: { bold: true, color: '#FFFFFF' }, cellStyle: { background: { color: '#1B4F9C' } } },&#10;          { text: '内容（文件）', textStyle: { bold: true, color: '#FFFFFF' }, cellStyle: { background: { color: '#1B4F9C' } } },&#10;          { text: '何时加载', textStyle: { bold: true, color: '#FFFFFF' }, cellStyle: { background: { color: '#1B4F9C' } } },&#10;        ],&#10;        [&#10;          { text: '规则层', textStyle: { bold: true, color: '#1B4F9C' } },&#10;          'rules/KNOWLEDGE-BASE.md · interaction/MASTERY-STAR-RULES.md',&#10;          '每轮',&#10;        ],&#10;        [&#10;          { text: '计划层', textStyle: { bold: true, color: '#1B4F9C' }, cellStyle: { background: { color: '#E8F0FB' } } },&#10;          { text: 'lesson-data/lesson-plan.json（仅当前阶段的配置）', cellStyle: { background: { color: '#E8F0FB' } } },&#10;          { text: '每轮', cellStyle: { background: { color: '#E8F0FB' } } },&#10;        ],&#10;        [&#10;          { text: '课堂层', textStyle: { bold: true, color: '#1B4F9C' } },&#10;          'runtime/DIALOGUE-LOG.md · segments/seg-XXX.json · 该段绑定的 KP 全文',&#10;          '每轮',&#10;        ],&#10;        [&#10;          { text: '阶段层', textStyle: { bold: true, color: '#1B4F9C' }, cellStyle: { background: { color: '#E8F0FB' } } },&#10;          { text: 'stages/&lt;当前阶段&gt;/questions.md · prompt.md · rubric.md', cellStyle: { background: { color: '#E8F0FB' } } },&#10;          { text: '仅当前阶段（复述/探究/讨论三幕才有）', textStyle: { color: '#B87700', bold: true }, cellStyle: { background: { color: '#E8F0FB' } } },&#10;        ],&#10;        [&#10;          { text: '历史层', textStyle: { bold: true, color: '#1B4F9C' } },&#10;          'runtime/data/dialogue-log.json 相关片段',&#10;          '按需召回',&#10;        ],&#10;        [&#10;          { text: '档案层', textStyle: { bold: true, color: '#1B4F9C' }, cellStyle: { background: { color: '#E8F0FB' } } },&#10;          { text: 'runtime/data/mastery-state.json · mastery-history.json', cellStyle: { background: { color: '#E8F0FB' } } },&#10;          { text: '仅判星级时', textStyle: { color: '#B87700', bold: true }, cellStyle: { background: { color: '#E8F0FB' } } },&#10;        ],&#10;      ]}&#10;    /&gt;&#10;    &lt;Box style={{ flex: 1, flexDirection: 'row', gap: 20 }}&gt;&#10;      &lt;Box style={{ flex: 1.4, background: '#E8F0FB', borderRadius: 10, padding: '13px 18px' }}&gt;&#10;        &lt;Text style={{ fontSize: 13.5, color: '#0F2E5C', lineHeight: 1.65 }}&gt;&#10;          &lt;span style={{ fontWeight: 'bold', color: '#1B4F9C' }}&gt;落盘映射（write_state）：&lt;/span&gt;host_phase / 耗时 / current_target → DIALOGUE-LOG.md；mastery_updates → mastery-state.json + mastery-history.json；stage_snapshots → mastery-history.json（带 stage 字段，追加不覆盖）。&#10;        &lt;/Text&gt;&#10;      &lt;/Box&gt;&#10;      &lt;Box style={{ flex: 1, border: '1px solid #D7E4F6', borderRadius: 10, padding: '13px 18px' }}&gt;&#10;        &lt;Text style={{ fontSize: 13.5, color: '#0F2E5C', lineHeight: 1.65 }}&gt;&#10;          &lt;span style={{ fontWeight: 'bold', color: '#1B4F9C' }}&gt;空壳处理：&lt;/span&gt;stages/&amp;lt;id&amp;gt;/ 文件为空或缺失 → 不报错，注入占位提示「本阶段内容未配置」，按默认行为运行。&#10;        &lt;/Text&gt;&#10;      &lt;/Box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17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99" name="圆角矩形 98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838200" y="342900"/>
            <a:ext cx="58864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上下文分层装配与数据落盘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838200" y="790575"/>
            <a:ext cx="5886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不把整门课塞进一轮上下文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host_phase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取用，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45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分钟的课上下文永远「刚好够用」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2" name="表格 101"/>
          <p:cNvGraphicFramePr/>
          <p:nvPr/>
        </p:nvGraphicFramePr>
        <p:xfrm>
          <a:off x="609600" y="1219200"/>
          <a:ext cx="10972800" cy="3238501"/>
        </p:xfrm>
        <a:graphic>
          <a:graphicData uri="http://schemas.openxmlformats.org/drawingml/2006/table">
            <a:tbl>
              <a:tblPr/>
              <a:tblGrid>
                <a:gridCol w="699106"/>
                <a:gridCol w="6769533"/>
                <a:gridCol w="3504161"/>
              </a:tblGrid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层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内容（文件）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何时加载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规则层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rules/KNOWLEDGE-BASE.md · interaction/MASTERY-STAR-RULES.md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计划层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lesson-data/lesson-plan.json（仅当前阶段的配置）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课堂层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runtime/DIALOGUE-LOG.md · segments/seg-XXX.json · 该段绑定的 KP 全文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阶段层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stages/&lt;当前阶段&gt;/questions.md · prompt.md · rubric.md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仅当前阶段（复述/探究/讨论三幕才有）</a:t>
                      </a:r>
                      <a:endParaRPr sz="975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历史层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runtime/data/dialogue-log.json 相关片段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按需召回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档案层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runtime/data/mastery-state.json · mastery-history.json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仅判星级时</a:t>
                      </a:r>
                      <a:endParaRPr sz="975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</a:tbl>
          </a:graphicData>
        </a:graphic>
      </p:graphicFrame>
      <p:sp>
        <p:nvSpPr>
          <p:cNvPr id="103" name="圆角矩形 102"/>
          <p:cNvSpPr/>
          <p:nvPr/>
        </p:nvSpPr>
        <p:spPr>
          <a:xfrm>
            <a:off x="609600" y="4591050"/>
            <a:ext cx="6286500" cy="1733550"/>
          </a:xfrm>
          <a:prstGeom prst="roundRect">
            <a:avLst>
              <a:gd name="adj" fmla="val 5495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81050" y="4714875"/>
            <a:ext cx="59436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1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落盘映射（</a:t>
            </a:r>
            <a:r>
              <a:rPr lang="en-US" sz="101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write_state</a:t>
            </a:r>
            <a:r>
              <a:rPr lang="zh-CN" sz="101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）：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host_phase /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耗时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/ current_target → DIALOGUE-LOG.md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mastery_updates → mastery-state.json + mastery-history.json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stage_snapshots → mastery-history.json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（带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stage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字段，追加不覆盖）。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7086600" y="4591050"/>
            <a:ext cx="4495800" cy="1733550"/>
          </a:xfrm>
          <a:prstGeom prst="roundRect">
            <a:avLst>
              <a:gd name="adj" fmla="val 5495"/>
            </a:avLst>
          </a:prstGeom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7258050" y="4714875"/>
            <a:ext cx="41529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1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空壳处理：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stages/&lt;id&gt;/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文件为空或缺失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不报错，注入占位提示「本阶段内容未配置」，按默认行为运行。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17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" descr="&lt;Slide style={{ width: '1280px', height: '720px', padding: '72px 110px', background: 'linear-gradient(135deg, #1B4F9C 0%, #0F2E5C 100%)', gap: 30 }}&gt;&#10;  &lt;Box style={{ gap: 22 }}&gt;&#10;    &lt;Box style={{ width: 56, height: 6, background: '#F59E0B' }} /&gt;&#10;    &lt;Text style={{ fontSize: 42, fontWeight: 'bold', color: '#FFFFFF', lineHeight: 1.3 }}&gt;现在就能跑：&lt;br /&gt;模型挂了，课也照常上完&lt;/Text&gt;&#10;  &lt;/Box&gt;&#10;  &lt;Box style={{ flexDirection: 'row', gap: 26 }}&gt;&#10;    &lt;Box style={{ flex: 1.2 }}&gt;&#10;      &lt;CodeBlock&#10;        language='bash'&#10;        theme='github-dark'&#10;        fontSize={13}&#10;        width={620}&#10;        code={`# 跑一节课（降级模式，无需任何 Key）&#10;pip install langgraph&#10;python orchestrator/run_demo.py&#10;&#10;# 接真实大模型（可选，先探针验证）&#10;export AGENT_LLM_BASE_URL=https://api.deepseek.com/v1&#10;export AGENT_LLM_API_KEY=sk-xxx&#10;export AGENT_LLM_MODEL=deepseek-chat&#10;python orchestrator/llm_probe.py   # 先验证端点&#10;python orchestrator/run_demo.py    # 再跑整节课`}&#10;      /&gt;&#10;    &lt;/Box&gt;&#10;    &lt;Box style={{ flex: 1, background: 'rgba(255,255,255,0.08)', borderRadius: 10, padding: '20px 24px', gap: 10 }}&gt;&#10;      &lt;Text style={{ fontSize: 16, fontWeight: 'bold', color: '#FFFFFF' }}&gt;已知缺口（诚实清单）&lt;/Text&gt;&#10;      &lt;Text style={{ fontSize: 13.5, color: '#BFD4F2', lineHeight: 2 }}&gt;&#10;        · 无定时器：学生不说话时不自动切幕&lt;br /&gt;&#10;        · 对话记忆窗口有限，长课可能丢上下文&lt;br /&gt;&#10;        · 视频位置接口未打通（占位符）&lt;br /&gt;&#10;        · 判星粒度细则待明确&lt;br /&gt;&#10;        · 全班讨论内容刻意留空（设计如此）&#10;      &lt;/Text&gt;&#10;    &lt;/Box&gt;&#10;  &lt;/Box&gt;&#10;  &lt;Box style={{ flexDirection: 'row', justifyContent: 'space-between', marginTop: 'auto' }}&gt;&#10;    &lt;Text style={{ fontSize: 14, color: '#9FB9E0' }}&gt;orchestrator/ORCHESTRATOR.md · agent.py · demo-run.md（真实运行实录）&lt;/Text&gt;&#10;    &lt;Text style={{ fontSize: 14, color: '#9FB9E0' }}&gt;主动引导智能体 · 2026.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12" name="矩形 111"/>
          <p:cNvSpPr/>
          <p:nvPr/>
        </p:nvSpPr>
        <p:spPr>
          <a:xfrm>
            <a:off x="1047750" y="685800"/>
            <a:ext cx="533400" cy="5715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1047750" y="952500"/>
            <a:ext cx="10096500" cy="1257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现在就能跑：</a:t>
            </a:r>
            <a:endParaRPr lang="zh-CN"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模型挂了，课也照常上完</a:t>
            </a:r>
            <a:endParaRPr lang="zh-CN"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6667500" y="2495550"/>
            <a:ext cx="4476750" cy="2352675"/>
          </a:xfrm>
          <a:prstGeom prst="roundRect">
            <a:avLst>
              <a:gd name="adj" fmla="val 4049"/>
            </a:avLst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6896100" y="2686050"/>
            <a:ext cx="40195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已知缺口（诚实清单）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896100" y="2971800"/>
            <a:ext cx="4019550" cy="1543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无定时器：学生不说话时不自动切幕</a:t>
            </a:r>
            <a:endParaRPr lang="zh-CN" sz="101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对话记忆窗口有限，长课可能丢上下文</a:t>
            </a:r>
            <a:endParaRPr lang="zh-CN" sz="101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视频位置接口未打通（占位符）</a:t>
            </a:r>
            <a:endParaRPr lang="zh-CN" sz="101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判星粒度细则待明确</a:t>
            </a:r>
            <a:endParaRPr lang="zh-CN" sz="101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全班讨论内容刻意留空（设计如此）</a:t>
            </a:r>
            <a:endParaRPr lang="zh-CN" sz="101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1047750" y="6010275"/>
            <a:ext cx="4857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orchestrator/ORCHESTRATOR.md · agent.py · demo-run.md</a:t>
            </a:r>
            <a:r>
              <a:rPr lang="zh-CN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（真实运行实录）</a:t>
            </a:r>
            <a:endParaRPr lang="zh-CN" sz="1050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9591675" y="6010275"/>
            <a:ext cx="1552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 · 2026.09</a:t>
            </a:r>
            <a:endParaRPr lang="en-US" sz="1050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1047750" y="2495550"/>
            <a:ext cx="5372100" cy="2352675"/>
          </a:xfrm>
          <a:prstGeom prst="roundRect">
            <a:avLst>
              <a:gd name="adj" fmla="val 3239"/>
            </a:avLst>
          </a:prstGeom>
          <a:solidFill>
            <a:srgbClr val="0E1116"/>
          </a:solidFill>
        </p:spPr>
        <p:txBody>
          <a:bodyPr/>
          <a:p/>
        </p:txBody>
      </p:sp>
      <p:sp>
        <p:nvSpPr>
          <p:cNvPr id="120" name="文本框 119"/>
          <p:cNvSpPr txBox="1"/>
          <p:nvPr/>
        </p:nvSpPr>
        <p:spPr>
          <a:xfrm>
            <a:off x="1200150" y="2628900"/>
            <a:ext cx="5067300" cy="2085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跑一节课（降级模式，无需任何 Key）</a:t>
            </a:r>
            <a:endParaRPr sz="97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pip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install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langgraph</a:t>
            </a:r>
            <a:endParaRPr sz="975">
              <a:solidFill>
                <a:srgbClr val="9ECBFF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python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orchestrator/run_demo.py</a:t>
            </a:r>
            <a:endParaRPr sz="975">
              <a:solidFill>
                <a:srgbClr val="9ECBFF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 sz="975">
              <a:solidFill>
                <a:srgbClr val="E5E7EB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接真实大模型（可选，先探针验证）</a:t>
            </a:r>
            <a:endParaRPr sz="97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AGENT_LLM_BASE_URL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https://api.deepseek.com/v1</a:t>
            </a:r>
            <a:endParaRPr sz="975">
              <a:solidFill>
                <a:srgbClr val="E1E4E8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AGENT_LLM_API_KEY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sk-xxx</a:t>
            </a:r>
            <a:endParaRPr sz="975">
              <a:solidFill>
                <a:srgbClr val="E1E4E8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AGENT_LLM_MODEL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deepseek-chat</a:t>
            </a:r>
            <a:endParaRPr sz="975">
              <a:solidFill>
                <a:srgbClr val="E1E4E8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python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orchestrator/llm_probe.py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先验证端点</a:t>
            </a:r>
            <a:endParaRPr sz="97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python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orchestrator/run_demo.py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再跑整节课</a:t>
            </a:r>
            <a:endParaRPr sz="975">
              <a:solidFill>
                <a:srgbClr val="6A737D"/>
              </a:solidFill>
              <a:latin typeface="Menlo"/>
              <a:ea typeface="Menlo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2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3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4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5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6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7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8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9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10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11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12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13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14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15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7409</Words>
  <Application>WPS 演示</Application>
  <PresentationFormat/>
  <Paragraphs>630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Menlo</vt:lpstr>
      <vt:lpstr>FFont-Family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陈怡凡</cp:lastModifiedBy>
  <cp:revision>4</cp:revision>
  <dcterms:created xsi:type="dcterms:W3CDTF">2026-09-19T05:34:53Z</dcterms:created>
  <dcterms:modified xsi:type="dcterms:W3CDTF">2026-09-19T05:47:36Z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35B0849DCA31476AB5D85867780078B4_12</vt:lpwstr>
  </property>
</Properties>
</file>